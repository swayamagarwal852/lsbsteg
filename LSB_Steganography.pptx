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8778240" y="548640"/>
            <a:ext cx="54864" cy="54864"/>
          </a:xfrm>
          <a:prstGeom prst="ellipse">
            <a:avLst/>
          </a:prstGeom>
          <a:solidFill>
            <a:srgbClr val="CADCFC">
              <a:alpha val="20000"/>
            </a:srgbClr>
          </a:solidFill>
          <a:ln/>
        </p:spPr>
      </p:sp>
      <p:sp>
        <p:nvSpPr>
          <p:cNvPr id="3" name="Shape 1"/>
          <p:cNvSpPr/>
          <p:nvPr/>
        </p:nvSpPr>
        <p:spPr>
          <a:xfrm>
            <a:off x="9089136" y="548640"/>
            <a:ext cx="54864" cy="54864"/>
          </a:xfrm>
          <a:prstGeom prst="ellipse">
            <a:avLst/>
          </a:prstGeom>
          <a:solidFill>
            <a:srgbClr val="CADCFC">
              <a:alpha val="20000"/>
            </a:srgbClr>
          </a:solidFill>
          <a:ln/>
        </p:spPr>
      </p:sp>
      <p:sp>
        <p:nvSpPr>
          <p:cNvPr id="4" name="Shape 2"/>
          <p:cNvSpPr/>
          <p:nvPr/>
        </p:nvSpPr>
        <p:spPr>
          <a:xfrm>
            <a:off x="9400032" y="548640"/>
            <a:ext cx="54864" cy="54864"/>
          </a:xfrm>
          <a:prstGeom prst="ellipse">
            <a:avLst/>
          </a:prstGeom>
          <a:solidFill>
            <a:srgbClr val="CADCFC">
              <a:alpha val="20000"/>
            </a:srgbClr>
          </a:solidFill>
          <a:ln/>
        </p:spPr>
      </p:sp>
      <p:sp>
        <p:nvSpPr>
          <p:cNvPr id="5" name="Shape 3"/>
          <p:cNvSpPr/>
          <p:nvPr/>
        </p:nvSpPr>
        <p:spPr>
          <a:xfrm>
            <a:off x="9710928" y="548640"/>
            <a:ext cx="54864" cy="54864"/>
          </a:xfrm>
          <a:prstGeom prst="ellipse">
            <a:avLst/>
          </a:prstGeom>
          <a:solidFill>
            <a:srgbClr val="CADCFC">
              <a:alpha val="20000"/>
            </a:srgbClr>
          </a:solidFill>
          <a:ln/>
        </p:spPr>
      </p:sp>
      <p:sp>
        <p:nvSpPr>
          <p:cNvPr id="6" name="Shape 4"/>
          <p:cNvSpPr/>
          <p:nvPr/>
        </p:nvSpPr>
        <p:spPr>
          <a:xfrm>
            <a:off x="10021824" y="548640"/>
            <a:ext cx="54864" cy="54864"/>
          </a:xfrm>
          <a:prstGeom prst="ellipse">
            <a:avLst/>
          </a:prstGeom>
          <a:solidFill>
            <a:srgbClr val="CADCFC">
              <a:alpha val="20000"/>
            </a:srgbClr>
          </a:solidFill>
          <a:ln/>
        </p:spPr>
      </p:sp>
      <p:sp>
        <p:nvSpPr>
          <p:cNvPr id="7" name="Shape 5"/>
          <p:cNvSpPr/>
          <p:nvPr/>
        </p:nvSpPr>
        <p:spPr>
          <a:xfrm>
            <a:off x="10332720" y="548640"/>
            <a:ext cx="54864" cy="54864"/>
          </a:xfrm>
          <a:prstGeom prst="ellipse">
            <a:avLst/>
          </a:prstGeom>
          <a:solidFill>
            <a:srgbClr val="CADCFC">
              <a:alpha val="20000"/>
            </a:srgbClr>
          </a:solidFill>
          <a:ln/>
        </p:spPr>
      </p:sp>
      <p:sp>
        <p:nvSpPr>
          <p:cNvPr id="8" name="Shape 6"/>
          <p:cNvSpPr/>
          <p:nvPr/>
        </p:nvSpPr>
        <p:spPr>
          <a:xfrm>
            <a:off x="10643616" y="548640"/>
            <a:ext cx="54864" cy="54864"/>
          </a:xfrm>
          <a:prstGeom prst="ellipse">
            <a:avLst/>
          </a:prstGeom>
          <a:solidFill>
            <a:srgbClr val="00C2A8">
              <a:alpha val="90000"/>
            </a:srgbClr>
          </a:solidFill>
          <a:ln/>
        </p:spPr>
      </p:sp>
      <p:sp>
        <p:nvSpPr>
          <p:cNvPr id="9" name="Shape 7"/>
          <p:cNvSpPr/>
          <p:nvPr/>
        </p:nvSpPr>
        <p:spPr>
          <a:xfrm>
            <a:off x="10954512" y="548640"/>
            <a:ext cx="54864" cy="54864"/>
          </a:xfrm>
          <a:prstGeom prst="ellipse">
            <a:avLst/>
          </a:prstGeom>
          <a:solidFill>
            <a:srgbClr val="00C2A8">
              <a:alpha val="90000"/>
            </a:srgbClr>
          </a:solidFill>
          <a:ln/>
        </p:spPr>
      </p:sp>
      <p:sp>
        <p:nvSpPr>
          <p:cNvPr id="10" name="Shape 8"/>
          <p:cNvSpPr/>
          <p:nvPr/>
        </p:nvSpPr>
        <p:spPr>
          <a:xfrm>
            <a:off x="11265408" y="548640"/>
            <a:ext cx="54864" cy="54864"/>
          </a:xfrm>
          <a:prstGeom prst="ellipse">
            <a:avLst/>
          </a:prstGeom>
          <a:solidFill>
            <a:srgbClr val="CADCFC">
              <a:alpha val="20000"/>
            </a:srgbClr>
          </a:solidFill>
          <a:ln/>
        </p:spPr>
      </p:sp>
      <p:sp>
        <p:nvSpPr>
          <p:cNvPr id="11" name="Shape 9"/>
          <p:cNvSpPr/>
          <p:nvPr/>
        </p:nvSpPr>
        <p:spPr>
          <a:xfrm>
            <a:off x="11576304" y="548640"/>
            <a:ext cx="54864" cy="54864"/>
          </a:xfrm>
          <a:prstGeom prst="ellipse">
            <a:avLst/>
          </a:prstGeom>
          <a:solidFill>
            <a:srgbClr val="00C2A8">
              <a:alpha val="90000"/>
            </a:srgbClr>
          </a:solidFill>
          <a:ln/>
        </p:spPr>
      </p:sp>
      <p:sp>
        <p:nvSpPr>
          <p:cNvPr id="12" name="Shape 10"/>
          <p:cNvSpPr/>
          <p:nvPr/>
        </p:nvSpPr>
        <p:spPr>
          <a:xfrm>
            <a:off x="8778240" y="859536"/>
            <a:ext cx="54864" cy="54864"/>
          </a:xfrm>
          <a:prstGeom prst="ellipse">
            <a:avLst/>
          </a:prstGeom>
          <a:solidFill>
            <a:srgbClr val="CADCFC">
              <a:alpha val="20000"/>
            </a:srgbClr>
          </a:solidFill>
          <a:ln/>
        </p:spPr>
      </p:sp>
      <p:sp>
        <p:nvSpPr>
          <p:cNvPr id="13" name="Shape 11"/>
          <p:cNvSpPr/>
          <p:nvPr/>
        </p:nvSpPr>
        <p:spPr>
          <a:xfrm>
            <a:off x="9089136" y="859536"/>
            <a:ext cx="54864" cy="54864"/>
          </a:xfrm>
          <a:prstGeom prst="ellipse">
            <a:avLst/>
          </a:prstGeom>
          <a:solidFill>
            <a:srgbClr val="00C2A8">
              <a:alpha val="90000"/>
            </a:srgbClr>
          </a:solidFill>
          <a:ln/>
        </p:spPr>
      </p:sp>
      <p:sp>
        <p:nvSpPr>
          <p:cNvPr id="14" name="Shape 12"/>
          <p:cNvSpPr/>
          <p:nvPr/>
        </p:nvSpPr>
        <p:spPr>
          <a:xfrm>
            <a:off x="9400032" y="859536"/>
            <a:ext cx="54864" cy="54864"/>
          </a:xfrm>
          <a:prstGeom prst="ellipse">
            <a:avLst/>
          </a:prstGeom>
          <a:solidFill>
            <a:srgbClr val="CADCFC">
              <a:alpha val="20000"/>
            </a:srgbClr>
          </a:solidFill>
          <a:ln/>
        </p:spPr>
      </p:sp>
      <p:sp>
        <p:nvSpPr>
          <p:cNvPr id="15" name="Shape 13"/>
          <p:cNvSpPr/>
          <p:nvPr/>
        </p:nvSpPr>
        <p:spPr>
          <a:xfrm>
            <a:off x="9710928" y="859536"/>
            <a:ext cx="54864" cy="54864"/>
          </a:xfrm>
          <a:prstGeom prst="ellipse">
            <a:avLst/>
          </a:prstGeom>
          <a:solidFill>
            <a:srgbClr val="CADCFC">
              <a:alpha val="20000"/>
            </a:srgbClr>
          </a:solidFill>
          <a:ln/>
        </p:spPr>
      </p:sp>
      <p:sp>
        <p:nvSpPr>
          <p:cNvPr id="16" name="Shape 14"/>
          <p:cNvSpPr/>
          <p:nvPr/>
        </p:nvSpPr>
        <p:spPr>
          <a:xfrm>
            <a:off x="10021824" y="859536"/>
            <a:ext cx="54864" cy="54864"/>
          </a:xfrm>
          <a:prstGeom prst="ellipse">
            <a:avLst/>
          </a:prstGeom>
          <a:solidFill>
            <a:srgbClr val="CADCFC">
              <a:alpha val="20000"/>
            </a:srgbClr>
          </a:solidFill>
          <a:ln/>
        </p:spPr>
      </p:sp>
      <p:sp>
        <p:nvSpPr>
          <p:cNvPr id="17" name="Shape 15"/>
          <p:cNvSpPr/>
          <p:nvPr/>
        </p:nvSpPr>
        <p:spPr>
          <a:xfrm>
            <a:off x="10332720" y="859536"/>
            <a:ext cx="54864" cy="54864"/>
          </a:xfrm>
          <a:prstGeom prst="ellipse">
            <a:avLst/>
          </a:prstGeom>
          <a:solidFill>
            <a:srgbClr val="CADCFC">
              <a:alpha val="20000"/>
            </a:srgbClr>
          </a:solidFill>
          <a:ln/>
        </p:spPr>
      </p:sp>
      <p:sp>
        <p:nvSpPr>
          <p:cNvPr id="18" name="Shape 16"/>
          <p:cNvSpPr/>
          <p:nvPr/>
        </p:nvSpPr>
        <p:spPr>
          <a:xfrm>
            <a:off x="10643616" y="859536"/>
            <a:ext cx="54864" cy="54864"/>
          </a:xfrm>
          <a:prstGeom prst="ellipse">
            <a:avLst/>
          </a:prstGeom>
          <a:solidFill>
            <a:srgbClr val="CADCFC">
              <a:alpha val="20000"/>
            </a:srgbClr>
          </a:solidFill>
          <a:ln/>
        </p:spPr>
      </p:sp>
      <p:sp>
        <p:nvSpPr>
          <p:cNvPr id="19" name="Shape 17"/>
          <p:cNvSpPr/>
          <p:nvPr/>
        </p:nvSpPr>
        <p:spPr>
          <a:xfrm>
            <a:off x="10954512" y="859536"/>
            <a:ext cx="54864" cy="54864"/>
          </a:xfrm>
          <a:prstGeom prst="ellipse">
            <a:avLst/>
          </a:prstGeom>
          <a:solidFill>
            <a:srgbClr val="00C2A8">
              <a:alpha val="90000"/>
            </a:srgbClr>
          </a:solidFill>
          <a:ln/>
        </p:spPr>
      </p:sp>
      <p:sp>
        <p:nvSpPr>
          <p:cNvPr id="20" name="Shape 18"/>
          <p:cNvSpPr/>
          <p:nvPr/>
        </p:nvSpPr>
        <p:spPr>
          <a:xfrm>
            <a:off x="11265408" y="859536"/>
            <a:ext cx="54864" cy="54864"/>
          </a:xfrm>
          <a:prstGeom prst="ellipse">
            <a:avLst/>
          </a:prstGeom>
          <a:solidFill>
            <a:srgbClr val="00C2A8">
              <a:alpha val="90000"/>
            </a:srgbClr>
          </a:solidFill>
          <a:ln/>
        </p:spPr>
      </p:sp>
      <p:sp>
        <p:nvSpPr>
          <p:cNvPr id="21" name="Shape 19"/>
          <p:cNvSpPr/>
          <p:nvPr/>
        </p:nvSpPr>
        <p:spPr>
          <a:xfrm>
            <a:off x="11576304" y="859536"/>
            <a:ext cx="54864" cy="54864"/>
          </a:xfrm>
          <a:prstGeom prst="ellipse">
            <a:avLst/>
          </a:prstGeom>
          <a:solidFill>
            <a:srgbClr val="00C2A8">
              <a:alpha val="90000"/>
            </a:srgbClr>
          </a:solidFill>
          <a:ln/>
        </p:spPr>
      </p:sp>
      <p:sp>
        <p:nvSpPr>
          <p:cNvPr id="22" name="Shape 20"/>
          <p:cNvSpPr/>
          <p:nvPr/>
        </p:nvSpPr>
        <p:spPr>
          <a:xfrm>
            <a:off x="8778240" y="1170432"/>
            <a:ext cx="54864" cy="54864"/>
          </a:xfrm>
          <a:prstGeom prst="ellipse">
            <a:avLst/>
          </a:prstGeom>
          <a:solidFill>
            <a:srgbClr val="CADCFC">
              <a:alpha val="20000"/>
            </a:srgbClr>
          </a:solidFill>
          <a:ln/>
        </p:spPr>
      </p:sp>
      <p:sp>
        <p:nvSpPr>
          <p:cNvPr id="23" name="Shape 21"/>
          <p:cNvSpPr/>
          <p:nvPr/>
        </p:nvSpPr>
        <p:spPr>
          <a:xfrm>
            <a:off x="9089136" y="1170432"/>
            <a:ext cx="54864" cy="54864"/>
          </a:xfrm>
          <a:prstGeom prst="ellipse">
            <a:avLst/>
          </a:prstGeom>
          <a:solidFill>
            <a:srgbClr val="CADCFC">
              <a:alpha val="20000"/>
            </a:srgbClr>
          </a:solidFill>
          <a:ln/>
        </p:spPr>
      </p:sp>
      <p:sp>
        <p:nvSpPr>
          <p:cNvPr id="24" name="Shape 22"/>
          <p:cNvSpPr/>
          <p:nvPr/>
        </p:nvSpPr>
        <p:spPr>
          <a:xfrm>
            <a:off x="9400032" y="1170432"/>
            <a:ext cx="54864" cy="54864"/>
          </a:xfrm>
          <a:prstGeom prst="ellipse">
            <a:avLst/>
          </a:prstGeom>
          <a:solidFill>
            <a:srgbClr val="CADCFC">
              <a:alpha val="20000"/>
            </a:srgbClr>
          </a:solidFill>
          <a:ln/>
        </p:spPr>
      </p:sp>
      <p:sp>
        <p:nvSpPr>
          <p:cNvPr id="25" name="Shape 23"/>
          <p:cNvSpPr/>
          <p:nvPr/>
        </p:nvSpPr>
        <p:spPr>
          <a:xfrm>
            <a:off x="9710928" y="1170432"/>
            <a:ext cx="54864" cy="54864"/>
          </a:xfrm>
          <a:prstGeom prst="ellipse">
            <a:avLst/>
          </a:prstGeom>
          <a:solidFill>
            <a:srgbClr val="CADCFC">
              <a:alpha val="20000"/>
            </a:srgbClr>
          </a:solidFill>
          <a:ln/>
        </p:spPr>
      </p:sp>
      <p:sp>
        <p:nvSpPr>
          <p:cNvPr id="26" name="Shape 24"/>
          <p:cNvSpPr/>
          <p:nvPr/>
        </p:nvSpPr>
        <p:spPr>
          <a:xfrm>
            <a:off x="10021824" y="1170432"/>
            <a:ext cx="54864" cy="54864"/>
          </a:xfrm>
          <a:prstGeom prst="ellipse">
            <a:avLst/>
          </a:prstGeom>
          <a:solidFill>
            <a:srgbClr val="CADCFC">
              <a:alpha val="20000"/>
            </a:srgbClr>
          </a:solidFill>
          <a:ln/>
        </p:spPr>
      </p:sp>
      <p:sp>
        <p:nvSpPr>
          <p:cNvPr id="27" name="Shape 25"/>
          <p:cNvSpPr/>
          <p:nvPr/>
        </p:nvSpPr>
        <p:spPr>
          <a:xfrm>
            <a:off x="10332720" y="1170432"/>
            <a:ext cx="54864" cy="54864"/>
          </a:xfrm>
          <a:prstGeom prst="ellipse">
            <a:avLst/>
          </a:prstGeom>
          <a:solidFill>
            <a:srgbClr val="CADCFC">
              <a:alpha val="20000"/>
            </a:srgbClr>
          </a:solidFill>
          <a:ln/>
        </p:spPr>
      </p:sp>
      <p:sp>
        <p:nvSpPr>
          <p:cNvPr id="28" name="Shape 26"/>
          <p:cNvSpPr/>
          <p:nvPr/>
        </p:nvSpPr>
        <p:spPr>
          <a:xfrm>
            <a:off x="10643616" y="1170432"/>
            <a:ext cx="54864" cy="54864"/>
          </a:xfrm>
          <a:prstGeom prst="ellipse">
            <a:avLst/>
          </a:prstGeom>
          <a:solidFill>
            <a:srgbClr val="CADCFC">
              <a:alpha val="20000"/>
            </a:srgbClr>
          </a:solidFill>
          <a:ln/>
        </p:spPr>
      </p:sp>
      <p:sp>
        <p:nvSpPr>
          <p:cNvPr id="29" name="Shape 27"/>
          <p:cNvSpPr/>
          <p:nvPr/>
        </p:nvSpPr>
        <p:spPr>
          <a:xfrm>
            <a:off x="10954512" y="1170432"/>
            <a:ext cx="54864" cy="54864"/>
          </a:xfrm>
          <a:prstGeom prst="ellipse">
            <a:avLst/>
          </a:prstGeom>
          <a:solidFill>
            <a:srgbClr val="00C2A8">
              <a:alpha val="90000"/>
            </a:srgbClr>
          </a:solidFill>
          <a:ln/>
        </p:spPr>
      </p:sp>
      <p:sp>
        <p:nvSpPr>
          <p:cNvPr id="30" name="Shape 28"/>
          <p:cNvSpPr/>
          <p:nvPr/>
        </p:nvSpPr>
        <p:spPr>
          <a:xfrm>
            <a:off x="11265408" y="1170432"/>
            <a:ext cx="54864" cy="54864"/>
          </a:xfrm>
          <a:prstGeom prst="ellipse">
            <a:avLst/>
          </a:prstGeom>
          <a:solidFill>
            <a:srgbClr val="00C2A8">
              <a:alpha val="90000"/>
            </a:srgbClr>
          </a:solidFill>
          <a:ln/>
        </p:spPr>
      </p:sp>
      <p:sp>
        <p:nvSpPr>
          <p:cNvPr id="31" name="Shape 29"/>
          <p:cNvSpPr/>
          <p:nvPr/>
        </p:nvSpPr>
        <p:spPr>
          <a:xfrm>
            <a:off x="11576304" y="1170432"/>
            <a:ext cx="54864" cy="54864"/>
          </a:xfrm>
          <a:prstGeom prst="ellipse">
            <a:avLst/>
          </a:prstGeom>
          <a:solidFill>
            <a:srgbClr val="00C2A8">
              <a:alpha val="90000"/>
            </a:srgbClr>
          </a:solidFill>
          <a:ln/>
        </p:spPr>
      </p:sp>
      <p:sp>
        <p:nvSpPr>
          <p:cNvPr id="32" name="Shape 30"/>
          <p:cNvSpPr/>
          <p:nvPr/>
        </p:nvSpPr>
        <p:spPr>
          <a:xfrm>
            <a:off x="8778240" y="1481328"/>
            <a:ext cx="54864" cy="54864"/>
          </a:xfrm>
          <a:prstGeom prst="ellipse">
            <a:avLst/>
          </a:prstGeom>
          <a:solidFill>
            <a:srgbClr val="CADCFC">
              <a:alpha val="20000"/>
            </a:srgbClr>
          </a:solidFill>
          <a:ln/>
        </p:spPr>
      </p:sp>
      <p:sp>
        <p:nvSpPr>
          <p:cNvPr id="33" name="Shape 31"/>
          <p:cNvSpPr/>
          <p:nvPr/>
        </p:nvSpPr>
        <p:spPr>
          <a:xfrm>
            <a:off x="9089136" y="1481328"/>
            <a:ext cx="54864" cy="54864"/>
          </a:xfrm>
          <a:prstGeom prst="ellipse">
            <a:avLst/>
          </a:prstGeom>
          <a:solidFill>
            <a:srgbClr val="CADCFC">
              <a:alpha val="20000"/>
            </a:srgbClr>
          </a:solidFill>
          <a:ln/>
        </p:spPr>
      </p:sp>
      <p:sp>
        <p:nvSpPr>
          <p:cNvPr id="34" name="Shape 32"/>
          <p:cNvSpPr/>
          <p:nvPr/>
        </p:nvSpPr>
        <p:spPr>
          <a:xfrm>
            <a:off x="9400032" y="1481328"/>
            <a:ext cx="54864" cy="54864"/>
          </a:xfrm>
          <a:prstGeom prst="ellipse">
            <a:avLst/>
          </a:prstGeom>
          <a:solidFill>
            <a:srgbClr val="00C2A8">
              <a:alpha val="90000"/>
            </a:srgbClr>
          </a:solidFill>
          <a:ln/>
        </p:spPr>
      </p:sp>
      <p:sp>
        <p:nvSpPr>
          <p:cNvPr id="35" name="Shape 33"/>
          <p:cNvSpPr/>
          <p:nvPr/>
        </p:nvSpPr>
        <p:spPr>
          <a:xfrm>
            <a:off x="9710928" y="1481328"/>
            <a:ext cx="54864" cy="54864"/>
          </a:xfrm>
          <a:prstGeom prst="ellipse">
            <a:avLst/>
          </a:prstGeom>
          <a:solidFill>
            <a:srgbClr val="CADCFC">
              <a:alpha val="20000"/>
            </a:srgbClr>
          </a:solidFill>
          <a:ln/>
        </p:spPr>
      </p:sp>
      <p:sp>
        <p:nvSpPr>
          <p:cNvPr id="36" name="Shape 34"/>
          <p:cNvSpPr/>
          <p:nvPr/>
        </p:nvSpPr>
        <p:spPr>
          <a:xfrm>
            <a:off x="10021824" y="1481328"/>
            <a:ext cx="54864" cy="54864"/>
          </a:xfrm>
          <a:prstGeom prst="ellipse">
            <a:avLst/>
          </a:prstGeom>
          <a:solidFill>
            <a:srgbClr val="CADCFC">
              <a:alpha val="20000"/>
            </a:srgbClr>
          </a:solidFill>
          <a:ln/>
        </p:spPr>
      </p:sp>
      <p:sp>
        <p:nvSpPr>
          <p:cNvPr id="37" name="Shape 35"/>
          <p:cNvSpPr/>
          <p:nvPr/>
        </p:nvSpPr>
        <p:spPr>
          <a:xfrm>
            <a:off x="10332720" y="1481328"/>
            <a:ext cx="54864" cy="54864"/>
          </a:xfrm>
          <a:prstGeom prst="ellipse">
            <a:avLst/>
          </a:prstGeom>
          <a:solidFill>
            <a:srgbClr val="CADCFC">
              <a:alpha val="20000"/>
            </a:srgbClr>
          </a:solidFill>
          <a:ln/>
        </p:spPr>
      </p:sp>
      <p:sp>
        <p:nvSpPr>
          <p:cNvPr id="38" name="Shape 36"/>
          <p:cNvSpPr/>
          <p:nvPr/>
        </p:nvSpPr>
        <p:spPr>
          <a:xfrm>
            <a:off x="10643616" y="1481328"/>
            <a:ext cx="54864" cy="54864"/>
          </a:xfrm>
          <a:prstGeom prst="ellipse">
            <a:avLst/>
          </a:prstGeom>
          <a:solidFill>
            <a:srgbClr val="00C2A8">
              <a:alpha val="90000"/>
            </a:srgbClr>
          </a:solidFill>
          <a:ln/>
        </p:spPr>
      </p:sp>
      <p:sp>
        <p:nvSpPr>
          <p:cNvPr id="39" name="Shape 37"/>
          <p:cNvSpPr/>
          <p:nvPr/>
        </p:nvSpPr>
        <p:spPr>
          <a:xfrm>
            <a:off x="10954512" y="1481328"/>
            <a:ext cx="54864" cy="54864"/>
          </a:xfrm>
          <a:prstGeom prst="ellipse">
            <a:avLst/>
          </a:prstGeom>
          <a:solidFill>
            <a:srgbClr val="CADCFC">
              <a:alpha val="20000"/>
            </a:srgbClr>
          </a:solidFill>
          <a:ln/>
        </p:spPr>
      </p:sp>
      <p:sp>
        <p:nvSpPr>
          <p:cNvPr id="40" name="Shape 38"/>
          <p:cNvSpPr/>
          <p:nvPr/>
        </p:nvSpPr>
        <p:spPr>
          <a:xfrm>
            <a:off x="11265408" y="1481328"/>
            <a:ext cx="54864" cy="54864"/>
          </a:xfrm>
          <a:prstGeom prst="ellipse">
            <a:avLst/>
          </a:prstGeom>
          <a:solidFill>
            <a:srgbClr val="CADCFC">
              <a:alpha val="20000"/>
            </a:srgbClr>
          </a:solidFill>
          <a:ln/>
        </p:spPr>
      </p:sp>
      <p:sp>
        <p:nvSpPr>
          <p:cNvPr id="41" name="Shape 39"/>
          <p:cNvSpPr/>
          <p:nvPr/>
        </p:nvSpPr>
        <p:spPr>
          <a:xfrm>
            <a:off x="11576304" y="1481328"/>
            <a:ext cx="54864" cy="54864"/>
          </a:xfrm>
          <a:prstGeom prst="ellipse">
            <a:avLst/>
          </a:prstGeom>
          <a:solidFill>
            <a:srgbClr val="00C2A8">
              <a:alpha val="90000"/>
            </a:srgbClr>
          </a:solidFill>
          <a:ln/>
        </p:spPr>
      </p:sp>
      <p:sp>
        <p:nvSpPr>
          <p:cNvPr id="42" name="Shape 40"/>
          <p:cNvSpPr/>
          <p:nvPr/>
        </p:nvSpPr>
        <p:spPr>
          <a:xfrm>
            <a:off x="8778240" y="1792224"/>
            <a:ext cx="54864" cy="54864"/>
          </a:xfrm>
          <a:prstGeom prst="ellipse">
            <a:avLst/>
          </a:prstGeom>
          <a:solidFill>
            <a:srgbClr val="CADCFC">
              <a:alpha val="20000"/>
            </a:srgbClr>
          </a:solidFill>
          <a:ln/>
        </p:spPr>
      </p:sp>
      <p:sp>
        <p:nvSpPr>
          <p:cNvPr id="43" name="Shape 41"/>
          <p:cNvSpPr/>
          <p:nvPr/>
        </p:nvSpPr>
        <p:spPr>
          <a:xfrm>
            <a:off x="9089136" y="1792224"/>
            <a:ext cx="54864" cy="54864"/>
          </a:xfrm>
          <a:prstGeom prst="ellipse">
            <a:avLst/>
          </a:prstGeom>
          <a:solidFill>
            <a:srgbClr val="CADCFC">
              <a:alpha val="20000"/>
            </a:srgbClr>
          </a:solidFill>
          <a:ln/>
        </p:spPr>
      </p:sp>
      <p:sp>
        <p:nvSpPr>
          <p:cNvPr id="44" name="Shape 42"/>
          <p:cNvSpPr/>
          <p:nvPr/>
        </p:nvSpPr>
        <p:spPr>
          <a:xfrm>
            <a:off x="9400032" y="1792224"/>
            <a:ext cx="54864" cy="54864"/>
          </a:xfrm>
          <a:prstGeom prst="ellipse">
            <a:avLst/>
          </a:prstGeom>
          <a:solidFill>
            <a:srgbClr val="00C2A8">
              <a:alpha val="90000"/>
            </a:srgbClr>
          </a:solidFill>
          <a:ln/>
        </p:spPr>
      </p:sp>
      <p:sp>
        <p:nvSpPr>
          <p:cNvPr id="45" name="Shape 43"/>
          <p:cNvSpPr/>
          <p:nvPr/>
        </p:nvSpPr>
        <p:spPr>
          <a:xfrm>
            <a:off x="9710928" y="1792224"/>
            <a:ext cx="54864" cy="54864"/>
          </a:xfrm>
          <a:prstGeom prst="ellipse">
            <a:avLst/>
          </a:prstGeom>
          <a:solidFill>
            <a:srgbClr val="CADCFC">
              <a:alpha val="20000"/>
            </a:srgbClr>
          </a:solidFill>
          <a:ln/>
        </p:spPr>
      </p:sp>
      <p:sp>
        <p:nvSpPr>
          <p:cNvPr id="46" name="Shape 44"/>
          <p:cNvSpPr/>
          <p:nvPr/>
        </p:nvSpPr>
        <p:spPr>
          <a:xfrm>
            <a:off x="10021824" y="1792224"/>
            <a:ext cx="54864" cy="54864"/>
          </a:xfrm>
          <a:prstGeom prst="ellipse">
            <a:avLst/>
          </a:prstGeom>
          <a:solidFill>
            <a:srgbClr val="00C2A8">
              <a:alpha val="90000"/>
            </a:srgbClr>
          </a:solidFill>
          <a:ln/>
        </p:spPr>
      </p:sp>
      <p:sp>
        <p:nvSpPr>
          <p:cNvPr id="47" name="Shape 45"/>
          <p:cNvSpPr/>
          <p:nvPr/>
        </p:nvSpPr>
        <p:spPr>
          <a:xfrm>
            <a:off x="10332720" y="1792224"/>
            <a:ext cx="54864" cy="54864"/>
          </a:xfrm>
          <a:prstGeom prst="ellipse">
            <a:avLst/>
          </a:prstGeom>
          <a:solidFill>
            <a:srgbClr val="CADCFC">
              <a:alpha val="20000"/>
            </a:srgbClr>
          </a:solidFill>
          <a:ln/>
        </p:spPr>
      </p:sp>
      <p:sp>
        <p:nvSpPr>
          <p:cNvPr id="48" name="Shape 46"/>
          <p:cNvSpPr/>
          <p:nvPr/>
        </p:nvSpPr>
        <p:spPr>
          <a:xfrm>
            <a:off x="10643616" y="1792224"/>
            <a:ext cx="54864" cy="54864"/>
          </a:xfrm>
          <a:prstGeom prst="ellipse">
            <a:avLst/>
          </a:prstGeom>
          <a:solidFill>
            <a:srgbClr val="CADCFC">
              <a:alpha val="20000"/>
            </a:srgbClr>
          </a:solidFill>
          <a:ln/>
        </p:spPr>
      </p:sp>
      <p:sp>
        <p:nvSpPr>
          <p:cNvPr id="49" name="Shape 47"/>
          <p:cNvSpPr/>
          <p:nvPr/>
        </p:nvSpPr>
        <p:spPr>
          <a:xfrm>
            <a:off x="10954512" y="1792224"/>
            <a:ext cx="54864" cy="54864"/>
          </a:xfrm>
          <a:prstGeom prst="ellipse">
            <a:avLst/>
          </a:prstGeom>
          <a:solidFill>
            <a:srgbClr val="00C2A8">
              <a:alpha val="90000"/>
            </a:srgbClr>
          </a:solidFill>
          <a:ln/>
        </p:spPr>
      </p:sp>
      <p:sp>
        <p:nvSpPr>
          <p:cNvPr id="50" name="Shape 48"/>
          <p:cNvSpPr/>
          <p:nvPr/>
        </p:nvSpPr>
        <p:spPr>
          <a:xfrm>
            <a:off x="11265408" y="1792224"/>
            <a:ext cx="54864" cy="54864"/>
          </a:xfrm>
          <a:prstGeom prst="ellipse">
            <a:avLst/>
          </a:prstGeom>
          <a:solidFill>
            <a:srgbClr val="CADCFC">
              <a:alpha val="20000"/>
            </a:srgbClr>
          </a:solidFill>
          <a:ln/>
        </p:spPr>
      </p:sp>
      <p:sp>
        <p:nvSpPr>
          <p:cNvPr id="51" name="Shape 49"/>
          <p:cNvSpPr/>
          <p:nvPr/>
        </p:nvSpPr>
        <p:spPr>
          <a:xfrm>
            <a:off x="11576304" y="1792224"/>
            <a:ext cx="54864" cy="54864"/>
          </a:xfrm>
          <a:prstGeom prst="ellipse">
            <a:avLst/>
          </a:prstGeom>
          <a:solidFill>
            <a:srgbClr val="00C2A8">
              <a:alpha val="90000"/>
            </a:srgbClr>
          </a:solidFill>
          <a:ln/>
        </p:spPr>
      </p:sp>
      <p:sp>
        <p:nvSpPr>
          <p:cNvPr id="52" name="Shape 50"/>
          <p:cNvSpPr/>
          <p:nvPr/>
        </p:nvSpPr>
        <p:spPr>
          <a:xfrm>
            <a:off x="8778240" y="2103120"/>
            <a:ext cx="54864" cy="54864"/>
          </a:xfrm>
          <a:prstGeom prst="ellipse">
            <a:avLst/>
          </a:prstGeom>
          <a:solidFill>
            <a:srgbClr val="CADCFC">
              <a:alpha val="20000"/>
            </a:srgbClr>
          </a:solidFill>
          <a:ln/>
        </p:spPr>
      </p:sp>
      <p:sp>
        <p:nvSpPr>
          <p:cNvPr id="53" name="Shape 51"/>
          <p:cNvSpPr/>
          <p:nvPr/>
        </p:nvSpPr>
        <p:spPr>
          <a:xfrm>
            <a:off x="9089136" y="2103120"/>
            <a:ext cx="54864" cy="54864"/>
          </a:xfrm>
          <a:prstGeom prst="ellipse">
            <a:avLst/>
          </a:prstGeom>
          <a:solidFill>
            <a:srgbClr val="CADCFC">
              <a:alpha val="20000"/>
            </a:srgbClr>
          </a:solidFill>
          <a:ln/>
        </p:spPr>
      </p:sp>
      <p:sp>
        <p:nvSpPr>
          <p:cNvPr id="54" name="Shape 52"/>
          <p:cNvSpPr/>
          <p:nvPr/>
        </p:nvSpPr>
        <p:spPr>
          <a:xfrm>
            <a:off x="9400032" y="2103120"/>
            <a:ext cx="54864" cy="54864"/>
          </a:xfrm>
          <a:prstGeom prst="ellipse">
            <a:avLst/>
          </a:prstGeom>
          <a:solidFill>
            <a:srgbClr val="CADCFC">
              <a:alpha val="20000"/>
            </a:srgbClr>
          </a:solidFill>
          <a:ln/>
        </p:spPr>
      </p:sp>
      <p:sp>
        <p:nvSpPr>
          <p:cNvPr id="55" name="Shape 53"/>
          <p:cNvSpPr/>
          <p:nvPr/>
        </p:nvSpPr>
        <p:spPr>
          <a:xfrm>
            <a:off x="9710928" y="2103120"/>
            <a:ext cx="54864" cy="54864"/>
          </a:xfrm>
          <a:prstGeom prst="ellipse">
            <a:avLst/>
          </a:prstGeom>
          <a:solidFill>
            <a:srgbClr val="CADCFC">
              <a:alpha val="20000"/>
            </a:srgbClr>
          </a:solidFill>
          <a:ln/>
        </p:spPr>
      </p:sp>
      <p:sp>
        <p:nvSpPr>
          <p:cNvPr id="56" name="Shape 54"/>
          <p:cNvSpPr/>
          <p:nvPr/>
        </p:nvSpPr>
        <p:spPr>
          <a:xfrm>
            <a:off x="10021824" y="2103120"/>
            <a:ext cx="54864" cy="54864"/>
          </a:xfrm>
          <a:prstGeom prst="ellipse">
            <a:avLst/>
          </a:prstGeom>
          <a:solidFill>
            <a:srgbClr val="00C2A8">
              <a:alpha val="90000"/>
            </a:srgbClr>
          </a:solidFill>
          <a:ln/>
        </p:spPr>
      </p:sp>
      <p:sp>
        <p:nvSpPr>
          <p:cNvPr id="57" name="Shape 55"/>
          <p:cNvSpPr/>
          <p:nvPr/>
        </p:nvSpPr>
        <p:spPr>
          <a:xfrm>
            <a:off x="10332720" y="2103120"/>
            <a:ext cx="54864" cy="54864"/>
          </a:xfrm>
          <a:prstGeom prst="ellipse">
            <a:avLst/>
          </a:prstGeom>
          <a:solidFill>
            <a:srgbClr val="CADCFC">
              <a:alpha val="20000"/>
            </a:srgbClr>
          </a:solidFill>
          <a:ln/>
        </p:spPr>
      </p:sp>
      <p:sp>
        <p:nvSpPr>
          <p:cNvPr id="58" name="Shape 56"/>
          <p:cNvSpPr/>
          <p:nvPr/>
        </p:nvSpPr>
        <p:spPr>
          <a:xfrm>
            <a:off x="10643616" y="2103120"/>
            <a:ext cx="54864" cy="54864"/>
          </a:xfrm>
          <a:prstGeom prst="ellipse">
            <a:avLst/>
          </a:prstGeom>
          <a:solidFill>
            <a:srgbClr val="00C2A8">
              <a:alpha val="90000"/>
            </a:srgbClr>
          </a:solidFill>
          <a:ln/>
        </p:spPr>
      </p:sp>
      <p:sp>
        <p:nvSpPr>
          <p:cNvPr id="59" name="Shape 57"/>
          <p:cNvSpPr/>
          <p:nvPr/>
        </p:nvSpPr>
        <p:spPr>
          <a:xfrm>
            <a:off x="10954512" y="2103120"/>
            <a:ext cx="54864" cy="54864"/>
          </a:xfrm>
          <a:prstGeom prst="ellipse">
            <a:avLst/>
          </a:prstGeom>
          <a:solidFill>
            <a:srgbClr val="00C2A8">
              <a:alpha val="90000"/>
            </a:srgbClr>
          </a:solidFill>
          <a:ln/>
        </p:spPr>
      </p:sp>
      <p:sp>
        <p:nvSpPr>
          <p:cNvPr id="60" name="Shape 58"/>
          <p:cNvSpPr/>
          <p:nvPr/>
        </p:nvSpPr>
        <p:spPr>
          <a:xfrm>
            <a:off x="11265408" y="2103120"/>
            <a:ext cx="54864" cy="54864"/>
          </a:xfrm>
          <a:prstGeom prst="ellipse">
            <a:avLst/>
          </a:prstGeom>
          <a:solidFill>
            <a:srgbClr val="CADCFC">
              <a:alpha val="20000"/>
            </a:srgbClr>
          </a:solidFill>
          <a:ln/>
        </p:spPr>
      </p:sp>
      <p:sp>
        <p:nvSpPr>
          <p:cNvPr id="61" name="Shape 59"/>
          <p:cNvSpPr/>
          <p:nvPr/>
        </p:nvSpPr>
        <p:spPr>
          <a:xfrm>
            <a:off x="11576304" y="2103120"/>
            <a:ext cx="54864" cy="54864"/>
          </a:xfrm>
          <a:prstGeom prst="ellipse">
            <a:avLst/>
          </a:prstGeom>
          <a:solidFill>
            <a:srgbClr val="CADCFC">
              <a:alpha val="20000"/>
            </a:srgbClr>
          </a:solidFill>
          <a:ln/>
        </p:spPr>
      </p:sp>
      <p:sp>
        <p:nvSpPr>
          <p:cNvPr id="62" name="Shape 60"/>
          <p:cNvSpPr/>
          <p:nvPr/>
        </p:nvSpPr>
        <p:spPr>
          <a:xfrm>
            <a:off x="8778240" y="2414016"/>
            <a:ext cx="54864" cy="54864"/>
          </a:xfrm>
          <a:prstGeom prst="ellipse">
            <a:avLst/>
          </a:prstGeom>
          <a:solidFill>
            <a:srgbClr val="CADCFC">
              <a:alpha val="20000"/>
            </a:srgbClr>
          </a:solidFill>
          <a:ln/>
        </p:spPr>
      </p:sp>
      <p:sp>
        <p:nvSpPr>
          <p:cNvPr id="63" name="Shape 61"/>
          <p:cNvSpPr/>
          <p:nvPr/>
        </p:nvSpPr>
        <p:spPr>
          <a:xfrm>
            <a:off x="9089136" y="2414016"/>
            <a:ext cx="54864" cy="54864"/>
          </a:xfrm>
          <a:prstGeom prst="ellipse">
            <a:avLst/>
          </a:prstGeom>
          <a:solidFill>
            <a:srgbClr val="CADCFC">
              <a:alpha val="20000"/>
            </a:srgbClr>
          </a:solidFill>
          <a:ln/>
        </p:spPr>
      </p:sp>
      <p:sp>
        <p:nvSpPr>
          <p:cNvPr id="64" name="Shape 62"/>
          <p:cNvSpPr/>
          <p:nvPr/>
        </p:nvSpPr>
        <p:spPr>
          <a:xfrm>
            <a:off x="9400032" y="2414016"/>
            <a:ext cx="54864" cy="54864"/>
          </a:xfrm>
          <a:prstGeom prst="ellipse">
            <a:avLst/>
          </a:prstGeom>
          <a:solidFill>
            <a:srgbClr val="CADCFC">
              <a:alpha val="20000"/>
            </a:srgbClr>
          </a:solidFill>
          <a:ln/>
        </p:spPr>
      </p:sp>
      <p:sp>
        <p:nvSpPr>
          <p:cNvPr id="65" name="Shape 63"/>
          <p:cNvSpPr/>
          <p:nvPr/>
        </p:nvSpPr>
        <p:spPr>
          <a:xfrm>
            <a:off x="9710928" y="2414016"/>
            <a:ext cx="54864" cy="54864"/>
          </a:xfrm>
          <a:prstGeom prst="ellipse">
            <a:avLst/>
          </a:prstGeom>
          <a:solidFill>
            <a:srgbClr val="CADCFC">
              <a:alpha val="20000"/>
            </a:srgbClr>
          </a:solidFill>
          <a:ln/>
        </p:spPr>
      </p:sp>
      <p:sp>
        <p:nvSpPr>
          <p:cNvPr id="66" name="Shape 64"/>
          <p:cNvSpPr/>
          <p:nvPr/>
        </p:nvSpPr>
        <p:spPr>
          <a:xfrm>
            <a:off x="10021824" y="2414016"/>
            <a:ext cx="54864" cy="54864"/>
          </a:xfrm>
          <a:prstGeom prst="ellipse">
            <a:avLst/>
          </a:prstGeom>
          <a:solidFill>
            <a:srgbClr val="CADCFC">
              <a:alpha val="20000"/>
            </a:srgbClr>
          </a:solidFill>
          <a:ln/>
        </p:spPr>
      </p:sp>
      <p:sp>
        <p:nvSpPr>
          <p:cNvPr id="67" name="Shape 65"/>
          <p:cNvSpPr/>
          <p:nvPr/>
        </p:nvSpPr>
        <p:spPr>
          <a:xfrm>
            <a:off x="10332720" y="2414016"/>
            <a:ext cx="54864" cy="54864"/>
          </a:xfrm>
          <a:prstGeom prst="ellipse">
            <a:avLst/>
          </a:prstGeom>
          <a:solidFill>
            <a:srgbClr val="00C2A8">
              <a:alpha val="90000"/>
            </a:srgbClr>
          </a:solidFill>
          <a:ln/>
        </p:spPr>
      </p:sp>
      <p:sp>
        <p:nvSpPr>
          <p:cNvPr id="68" name="Shape 66"/>
          <p:cNvSpPr/>
          <p:nvPr/>
        </p:nvSpPr>
        <p:spPr>
          <a:xfrm>
            <a:off x="10643616" y="2414016"/>
            <a:ext cx="54864" cy="54864"/>
          </a:xfrm>
          <a:prstGeom prst="ellipse">
            <a:avLst/>
          </a:prstGeom>
          <a:solidFill>
            <a:srgbClr val="CADCFC">
              <a:alpha val="20000"/>
            </a:srgbClr>
          </a:solidFill>
          <a:ln/>
        </p:spPr>
      </p:sp>
      <p:sp>
        <p:nvSpPr>
          <p:cNvPr id="69" name="Shape 67"/>
          <p:cNvSpPr/>
          <p:nvPr/>
        </p:nvSpPr>
        <p:spPr>
          <a:xfrm>
            <a:off x="10954512" y="2414016"/>
            <a:ext cx="54864" cy="54864"/>
          </a:xfrm>
          <a:prstGeom prst="ellipse">
            <a:avLst/>
          </a:prstGeom>
          <a:solidFill>
            <a:srgbClr val="CADCFC">
              <a:alpha val="20000"/>
            </a:srgbClr>
          </a:solidFill>
          <a:ln/>
        </p:spPr>
      </p:sp>
      <p:sp>
        <p:nvSpPr>
          <p:cNvPr id="70" name="Shape 68"/>
          <p:cNvSpPr/>
          <p:nvPr/>
        </p:nvSpPr>
        <p:spPr>
          <a:xfrm>
            <a:off x="11265408" y="2414016"/>
            <a:ext cx="54864" cy="54864"/>
          </a:xfrm>
          <a:prstGeom prst="ellipse">
            <a:avLst/>
          </a:prstGeom>
          <a:solidFill>
            <a:srgbClr val="00C2A8">
              <a:alpha val="90000"/>
            </a:srgbClr>
          </a:solidFill>
          <a:ln/>
        </p:spPr>
      </p:sp>
      <p:sp>
        <p:nvSpPr>
          <p:cNvPr id="71" name="Shape 69"/>
          <p:cNvSpPr/>
          <p:nvPr/>
        </p:nvSpPr>
        <p:spPr>
          <a:xfrm>
            <a:off x="11576304" y="2414016"/>
            <a:ext cx="54864" cy="54864"/>
          </a:xfrm>
          <a:prstGeom prst="ellipse">
            <a:avLst/>
          </a:prstGeom>
          <a:solidFill>
            <a:srgbClr val="CADCFC">
              <a:alpha val="20000"/>
            </a:srgbClr>
          </a:solidFill>
          <a:ln/>
        </p:spPr>
      </p:sp>
      <p:sp>
        <p:nvSpPr>
          <p:cNvPr id="72" name="Shape 70"/>
          <p:cNvSpPr/>
          <p:nvPr/>
        </p:nvSpPr>
        <p:spPr>
          <a:xfrm>
            <a:off x="8778240" y="2724912"/>
            <a:ext cx="54864" cy="54864"/>
          </a:xfrm>
          <a:prstGeom prst="ellipse">
            <a:avLst/>
          </a:prstGeom>
          <a:solidFill>
            <a:srgbClr val="CADCFC">
              <a:alpha val="20000"/>
            </a:srgbClr>
          </a:solidFill>
          <a:ln/>
        </p:spPr>
      </p:sp>
      <p:sp>
        <p:nvSpPr>
          <p:cNvPr id="73" name="Shape 71"/>
          <p:cNvSpPr/>
          <p:nvPr/>
        </p:nvSpPr>
        <p:spPr>
          <a:xfrm>
            <a:off x="9089136" y="2724912"/>
            <a:ext cx="54864" cy="54864"/>
          </a:xfrm>
          <a:prstGeom prst="ellipse">
            <a:avLst/>
          </a:prstGeom>
          <a:solidFill>
            <a:srgbClr val="CADCFC">
              <a:alpha val="20000"/>
            </a:srgbClr>
          </a:solidFill>
          <a:ln/>
        </p:spPr>
      </p:sp>
      <p:sp>
        <p:nvSpPr>
          <p:cNvPr id="74" name="Shape 72"/>
          <p:cNvSpPr/>
          <p:nvPr/>
        </p:nvSpPr>
        <p:spPr>
          <a:xfrm>
            <a:off x="9400032" y="2724912"/>
            <a:ext cx="54864" cy="54864"/>
          </a:xfrm>
          <a:prstGeom prst="ellipse">
            <a:avLst/>
          </a:prstGeom>
          <a:solidFill>
            <a:srgbClr val="CADCFC">
              <a:alpha val="20000"/>
            </a:srgbClr>
          </a:solidFill>
          <a:ln/>
        </p:spPr>
      </p:sp>
      <p:sp>
        <p:nvSpPr>
          <p:cNvPr id="75" name="Shape 73"/>
          <p:cNvSpPr/>
          <p:nvPr/>
        </p:nvSpPr>
        <p:spPr>
          <a:xfrm>
            <a:off x="9710928" y="2724912"/>
            <a:ext cx="54864" cy="54864"/>
          </a:xfrm>
          <a:prstGeom prst="ellipse">
            <a:avLst/>
          </a:prstGeom>
          <a:solidFill>
            <a:srgbClr val="CADCFC">
              <a:alpha val="20000"/>
            </a:srgbClr>
          </a:solidFill>
          <a:ln/>
        </p:spPr>
      </p:sp>
      <p:sp>
        <p:nvSpPr>
          <p:cNvPr id="76" name="Shape 74"/>
          <p:cNvSpPr/>
          <p:nvPr/>
        </p:nvSpPr>
        <p:spPr>
          <a:xfrm>
            <a:off x="10021824" y="2724912"/>
            <a:ext cx="54864" cy="54864"/>
          </a:xfrm>
          <a:prstGeom prst="ellipse">
            <a:avLst/>
          </a:prstGeom>
          <a:solidFill>
            <a:srgbClr val="CADCFC">
              <a:alpha val="20000"/>
            </a:srgbClr>
          </a:solidFill>
          <a:ln/>
        </p:spPr>
      </p:sp>
      <p:sp>
        <p:nvSpPr>
          <p:cNvPr id="77" name="Shape 75"/>
          <p:cNvSpPr/>
          <p:nvPr/>
        </p:nvSpPr>
        <p:spPr>
          <a:xfrm>
            <a:off x="10332720" y="2724912"/>
            <a:ext cx="54864" cy="54864"/>
          </a:xfrm>
          <a:prstGeom prst="ellipse">
            <a:avLst/>
          </a:prstGeom>
          <a:solidFill>
            <a:srgbClr val="00C2A8">
              <a:alpha val="90000"/>
            </a:srgbClr>
          </a:solidFill>
          <a:ln/>
        </p:spPr>
      </p:sp>
      <p:sp>
        <p:nvSpPr>
          <p:cNvPr id="78" name="Shape 76"/>
          <p:cNvSpPr/>
          <p:nvPr/>
        </p:nvSpPr>
        <p:spPr>
          <a:xfrm>
            <a:off x="10643616" y="2724912"/>
            <a:ext cx="54864" cy="54864"/>
          </a:xfrm>
          <a:prstGeom prst="ellipse">
            <a:avLst/>
          </a:prstGeom>
          <a:solidFill>
            <a:srgbClr val="00C2A8">
              <a:alpha val="90000"/>
            </a:srgbClr>
          </a:solidFill>
          <a:ln/>
        </p:spPr>
      </p:sp>
      <p:sp>
        <p:nvSpPr>
          <p:cNvPr id="79" name="Shape 77"/>
          <p:cNvSpPr/>
          <p:nvPr/>
        </p:nvSpPr>
        <p:spPr>
          <a:xfrm>
            <a:off x="10954512" y="2724912"/>
            <a:ext cx="54864" cy="54864"/>
          </a:xfrm>
          <a:prstGeom prst="ellipse">
            <a:avLst/>
          </a:prstGeom>
          <a:solidFill>
            <a:srgbClr val="CADCFC">
              <a:alpha val="20000"/>
            </a:srgbClr>
          </a:solidFill>
          <a:ln/>
        </p:spPr>
      </p:sp>
      <p:sp>
        <p:nvSpPr>
          <p:cNvPr id="80" name="Shape 78"/>
          <p:cNvSpPr/>
          <p:nvPr/>
        </p:nvSpPr>
        <p:spPr>
          <a:xfrm>
            <a:off x="11265408" y="2724912"/>
            <a:ext cx="54864" cy="54864"/>
          </a:xfrm>
          <a:prstGeom prst="ellipse">
            <a:avLst/>
          </a:prstGeom>
          <a:solidFill>
            <a:srgbClr val="CADCFC">
              <a:alpha val="20000"/>
            </a:srgbClr>
          </a:solidFill>
          <a:ln/>
        </p:spPr>
      </p:sp>
      <p:sp>
        <p:nvSpPr>
          <p:cNvPr id="81" name="Shape 79"/>
          <p:cNvSpPr/>
          <p:nvPr/>
        </p:nvSpPr>
        <p:spPr>
          <a:xfrm>
            <a:off x="11576304" y="2724912"/>
            <a:ext cx="54864" cy="54864"/>
          </a:xfrm>
          <a:prstGeom prst="ellipse">
            <a:avLst/>
          </a:prstGeom>
          <a:solidFill>
            <a:srgbClr val="CADCFC">
              <a:alpha val="20000"/>
            </a:srgbClr>
          </a:solidFill>
          <a:ln/>
        </p:spPr>
      </p:sp>
      <p:sp>
        <p:nvSpPr>
          <p:cNvPr id="82" name="Text 80"/>
          <p:cNvSpPr/>
          <p:nvPr/>
        </p:nvSpPr>
        <p:spPr>
          <a:xfrm>
            <a:off x="731520" y="1554480"/>
            <a:ext cx="7315200" cy="365760"/>
          </a:xfrm>
          <a:prstGeom prst="rect">
            <a:avLst/>
          </a:prstGeom>
          <a:noFill/>
          <a:ln/>
        </p:spPr>
        <p:txBody>
          <a:bodyPr wrap="square" rtlCol="0" anchor="ctr"/>
          <a:lstStyle/>
          <a:p>
            <a:pPr indent="0" marL="0">
              <a:buNone/>
            </a:pPr>
            <a:r>
              <a:rPr lang="en-US" sz="1400" b="1" spc="300" kern="0" dirty="0">
                <a:solidFill>
                  <a:srgbClr val="00C2A8"/>
                </a:solidFill>
                <a:latin typeface="Calibri" pitchFamily="34" charset="0"/>
                <a:ea typeface="Calibri" pitchFamily="34" charset="-122"/>
                <a:cs typeface="Calibri" pitchFamily="34" charset="-120"/>
              </a:rPr>
              <a:t>MULTIMEDIA &amp; DATA SECURITY</a:t>
            </a:r>
            <a:endParaRPr lang="en-US" sz="1400" dirty="0"/>
          </a:p>
        </p:txBody>
      </p:sp>
      <p:sp>
        <p:nvSpPr>
          <p:cNvPr id="83" name="Text 81"/>
          <p:cNvSpPr/>
          <p:nvPr/>
        </p:nvSpPr>
        <p:spPr>
          <a:xfrm>
            <a:off x="731520" y="1965960"/>
            <a:ext cx="7589520" cy="1828800"/>
          </a:xfrm>
          <a:prstGeom prst="rect">
            <a:avLst/>
          </a:prstGeom>
          <a:noFill/>
          <a:ln/>
        </p:spPr>
        <p:txBody>
          <a:bodyPr wrap="square" rtlCol="0" anchor="ctr"/>
          <a:lstStyle/>
          <a:p>
            <a:pPr indent="0" marL="0">
              <a:lnSpc>
                <a:spcPts val="4000"/>
              </a:lnSpc>
              <a:buNone/>
            </a:pPr>
            <a:r>
              <a:rPr lang="en-US" sz="3400" b="1" dirty="0">
                <a:solidFill>
                  <a:srgbClr val="FFFFFF"/>
                </a:solidFill>
                <a:latin typeface="Cambria" pitchFamily="34" charset="0"/>
                <a:ea typeface="Cambria" pitchFamily="34" charset="-122"/>
                <a:cs typeface="Cambria" pitchFamily="34" charset="-120"/>
              </a:rPr>
              <a:t>Design and Implementation of an</a:t>
            </a:r>
            <a:endParaRPr lang="en-US" sz="3400" dirty="0"/>
          </a:p>
          <a:p>
            <a:pPr indent="0" marL="0">
              <a:lnSpc>
                <a:spcPts val="4000"/>
              </a:lnSpc>
              <a:buNone/>
            </a:pPr>
            <a:r>
              <a:rPr lang="en-US" sz="3400" b="1" dirty="0">
                <a:solidFill>
                  <a:srgbClr val="FFFFFF"/>
                </a:solidFill>
                <a:latin typeface="Cambria" pitchFamily="34" charset="0"/>
                <a:ea typeface="Cambria" pitchFamily="34" charset="-122"/>
                <a:cs typeface="Cambria" pitchFamily="34" charset="-120"/>
              </a:rPr>
              <a:t>LSB-based Image Steganography System</a:t>
            </a:r>
            <a:endParaRPr lang="en-US" sz="3400" dirty="0"/>
          </a:p>
        </p:txBody>
      </p:sp>
      <p:sp>
        <p:nvSpPr>
          <p:cNvPr id="84" name="Shape 82"/>
          <p:cNvSpPr/>
          <p:nvPr/>
        </p:nvSpPr>
        <p:spPr>
          <a:xfrm>
            <a:off x="731520" y="3977640"/>
            <a:ext cx="2011680" cy="0"/>
          </a:xfrm>
          <a:prstGeom prst="line">
            <a:avLst/>
          </a:prstGeom>
          <a:noFill/>
          <a:ln w="31750">
            <a:solidFill>
              <a:srgbClr val="00C2A8"/>
            </a:solidFill>
            <a:prstDash val="solid"/>
          </a:ln>
        </p:spPr>
      </p:sp>
      <p:sp>
        <p:nvSpPr>
          <p:cNvPr id="85" name="Text 83"/>
          <p:cNvSpPr/>
          <p:nvPr/>
        </p:nvSpPr>
        <p:spPr>
          <a:xfrm>
            <a:off x="731520" y="4114800"/>
            <a:ext cx="6858000" cy="457200"/>
          </a:xfrm>
          <a:prstGeom prst="rect">
            <a:avLst/>
          </a:prstGeom>
          <a:noFill/>
          <a:ln/>
        </p:spPr>
        <p:txBody>
          <a:bodyPr wrap="square" rtlCol="0" anchor="ctr"/>
          <a:lstStyle/>
          <a:p>
            <a:pPr indent="0" marL="0">
              <a:buNone/>
            </a:pPr>
            <a:r>
              <a:rPr lang="en-US" sz="1500" i="1" dirty="0">
                <a:solidFill>
                  <a:srgbClr val="CADCFC"/>
                </a:solidFill>
                <a:latin typeface="Calibri" pitchFamily="34" charset="0"/>
                <a:ea typeface="Calibri" pitchFamily="34" charset="-122"/>
                <a:cs typeface="Calibri" pitchFamily="34" charset="-120"/>
              </a:rPr>
              <a:t>A project on secure covert communication using digital images</a:t>
            </a:r>
            <a:endParaRPr lang="en-US" sz="1500" dirty="0"/>
          </a:p>
        </p:txBody>
      </p:sp>
      <p:sp>
        <p:nvSpPr>
          <p:cNvPr id="86" name="Shape 84"/>
          <p:cNvSpPr/>
          <p:nvPr/>
        </p:nvSpPr>
        <p:spPr>
          <a:xfrm>
            <a:off x="731520" y="4892040"/>
            <a:ext cx="5760720" cy="1417320"/>
          </a:xfrm>
          <a:prstGeom prst="roundRect">
            <a:avLst>
              <a:gd name="adj" fmla="val 5161"/>
            </a:avLst>
          </a:prstGeom>
          <a:solidFill>
            <a:srgbClr val="FFFFFF">
              <a:alpha val="8000"/>
            </a:srgbClr>
          </a:solidFill>
          <a:ln w="9525">
            <a:solidFill>
              <a:srgbClr val="CADCFC"/>
            </a:solidFill>
            <a:prstDash val="solid"/>
          </a:ln>
        </p:spPr>
      </p:sp>
      <p:sp>
        <p:nvSpPr>
          <p:cNvPr id="87" name="Text 85"/>
          <p:cNvSpPr/>
          <p:nvPr/>
        </p:nvSpPr>
        <p:spPr>
          <a:xfrm>
            <a:off x="1005840" y="5074920"/>
            <a:ext cx="2651760" cy="10972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Swayam Agarwal</a:t>
            </a:r>
            <a:endParaRPr lang="en-US" sz="1600" dirty="0"/>
          </a:p>
          <a:p>
            <a:pPr indent="0" marL="0">
              <a:buNone/>
            </a:pPr>
            <a:r>
              <a:rPr lang="en-US" sz="1250" dirty="0">
                <a:solidFill>
                  <a:srgbClr val="CADCFC"/>
                </a:solidFill>
                <a:latin typeface="Calibri" pitchFamily="34" charset="0"/>
                <a:ea typeface="Calibri" pitchFamily="34" charset="-122"/>
                <a:cs typeface="Calibri" pitchFamily="34" charset="-120"/>
              </a:rPr>
              <a:t>23BIT0216</a:t>
            </a:r>
            <a:endParaRPr lang="en-US" sz="1600" dirty="0"/>
          </a:p>
        </p:txBody>
      </p:sp>
      <p:sp>
        <p:nvSpPr>
          <p:cNvPr id="88" name="Text 86"/>
          <p:cNvSpPr/>
          <p:nvPr/>
        </p:nvSpPr>
        <p:spPr>
          <a:xfrm>
            <a:off x="3749040" y="5074920"/>
            <a:ext cx="2651760" cy="10972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Shriyans Pratihari</a:t>
            </a:r>
            <a:endParaRPr lang="en-US" sz="1600" dirty="0"/>
          </a:p>
          <a:p>
            <a:pPr indent="0" marL="0">
              <a:buNone/>
            </a:pPr>
            <a:r>
              <a:rPr lang="en-US" sz="1250" dirty="0">
                <a:solidFill>
                  <a:srgbClr val="CADCFC"/>
                </a:solidFill>
                <a:latin typeface="Calibri" pitchFamily="34" charset="0"/>
                <a:ea typeface="Calibri" pitchFamily="34" charset="-122"/>
                <a:cs typeface="Calibri" pitchFamily="34" charset="-120"/>
              </a:rPr>
              <a:t>23BIT0219</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5486400" cy="548640"/>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Abstract</a:t>
            </a:r>
            <a:endParaRPr lang="en-US" sz="3200" dirty="0"/>
          </a:p>
        </p:txBody>
      </p:sp>
      <p:sp>
        <p:nvSpPr>
          <p:cNvPr id="3" name="Shape 1"/>
          <p:cNvSpPr/>
          <p:nvPr/>
        </p:nvSpPr>
        <p:spPr>
          <a:xfrm>
            <a:off x="566928" y="960120"/>
            <a:ext cx="457200" cy="73152"/>
          </a:xfrm>
          <a:prstGeom prst="roundRect">
            <a:avLst>
              <a:gd name="adj" fmla="val 50000"/>
            </a:avLst>
          </a:prstGeom>
          <a:solidFill>
            <a:srgbClr val="00C2A8"/>
          </a:solidFill>
          <a:ln/>
        </p:spPr>
      </p:sp>
      <p:sp>
        <p:nvSpPr>
          <p:cNvPr id="4" name="Text 2"/>
          <p:cNvSpPr/>
          <p:nvPr/>
        </p:nvSpPr>
        <p:spPr>
          <a:xfrm>
            <a:off x="548640" y="1280160"/>
            <a:ext cx="6309360" cy="2286000"/>
          </a:xfrm>
          <a:prstGeom prst="rect">
            <a:avLst/>
          </a:prstGeom>
          <a:noFill/>
          <a:ln/>
        </p:spPr>
        <p:txBody>
          <a:bodyPr wrap="square" rtlCol="0" anchor="ctr"/>
          <a:lstStyle/>
          <a:p>
            <a:pPr indent="0" marL="0">
              <a:lnSpc>
                <a:spcPct val="125000"/>
              </a:lnSpc>
              <a:buNone/>
            </a:pPr>
            <a:r>
              <a:rPr lang="en-US" sz="1500" dirty="0">
                <a:solidFill>
                  <a:srgbClr val="1B1F3B"/>
                </a:solidFill>
                <a:latin typeface="Calibri" pitchFamily="34" charset="0"/>
                <a:ea typeface="Calibri" pitchFamily="34" charset="-122"/>
                <a:cs typeface="Calibri" pitchFamily="34" charset="-120"/>
              </a:rPr>
              <a:t>This project presents a multimedia system for securely embedding and extracting secret text messages within digital images using Least Significant Bit (LSB) steganography. The technique exploits the human visual system's inability to perceive minor changes in pixel intensity, allowing confidential data to be hidden without visible distortion to the cover image.</a:t>
            </a:r>
            <a:endParaRPr lang="en-US" sz="1500" dirty="0"/>
          </a:p>
        </p:txBody>
      </p:sp>
      <p:sp>
        <p:nvSpPr>
          <p:cNvPr id="5" name="Text 3"/>
          <p:cNvSpPr/>
          <p:nvPr/>
        </p:nvSpPr>
        <p:spPr>
          <a:xfrm>
            <a:off x="548640" y="3611880"/>
            <a:ext cx="6309360" cy="1554480"/>
          </a:xfrm>
          <a:prstGeom prst="rect">
            <a:avLst/>
          </a:prstGeom>
          <a:noFill/>
          <a:ln/>
        </p:spPr>
        <p:txBody>
          <a:bodyPr wrap="square" rtlCol="0" anchor="ctr"/>
          <a:lstStyle/>
          <a:p>
            <a:pPr indent="0" marL="0">
              <a:lnSpc>
                <a:spcPct val="125000"/>
              </a:lnSpc>
              <a:buNone/>
            </a:pPr>
            <a:r>
              <a:rPr lang="en-US" sz="1500" dirty="0">
                <a:solidFill>
                  <a:srgbClr val="1B1F3B"/>
                </a:solidFill>
                <a:latin typeface="Calibri" pitchFamily="34" charset="0"/>
                <a:ea typeface="Calibri" pitchFamily="34" charset="-122"/>
                <a:cs typeface="Calibri" pitchFamily="34" charset="-120"/>
              </a:rPr>
              <a:t>The system implements an encoder that converts the message into binary and embeds it sequentially into image pixels with a delimiter marking the message boundary, and a decoder that extracts and reconstructs the original message from the stego-image.</a:t>
            </a:r>
            <a:endParaRPr lang="en-US" sz="1500" dirty="0"/>
          </a:p>
        </p:txBody>
      </p:sp>
      <p:sp>
        <p:nvSpPr>
          <p:cNvPr id="6" name="Shape 4"/>
          <p:cNvSpPr/>
          <p:nvPr/>
        </p:nvSpPr>
        <p:spPr>
          <a:xfrm>
            <a:off x="7223760" y="1325880"/>
            <a:ext cx="4389120" cy="4480560"/>
          </a:xfrm>
          <a:prstGeom prst="roundRect">
            <a:avLst>
              <a:gd name="adj" fmla="val 2083"/>
            </a:avLst>
          </a:prstGeom>
          <a:solidFill>
            <a:srgbClr val="F4F6FB"/>
          </a:solidFill>
          <a:ln w="12700">
            <a:solidFill>
              <a:srgbClr val="CADCFC"/>
            </a:solidFill>
            <a:prstDash val="solid"/>
          </a:ln>
        </p:spPr>
      </p:sp>
      <p:sp>
        <p:nvSpPr>
          <p:cNvPr id="7" name="Text 5"/>
          <p:cNvSpPr/>
          <p:nvPr/>
        </p:nvSpPr>
        <p:spPr>
          <a:xfrm>
            <a:off x="7498080" y="1554480"/>
            <a:ext cx="3840480" cy="365760"/>
          </a:xfrm>
          <a:prstGeom prst="rect">
            <a:avLst/>
          </a:prstGeom>
          <a:noFill/>
          <a:ln/>
        </p:spPr>
        <p:txBody>
          <a:bodyPr wrap="square" rtlCol="0" anchor="ctr"/>
          <a:lstStyle/>
          <a:p>
            <a:pPr indent="0" marL="0">
              <a:buNone/>
            </a:pPr>
            <a:r>
              <a:rPr lang="en-US" sz="1300" b="1" spc="100" kern="0" dirty="0">
                <a:solidFill>
                  <a:srgbClr val="1E2761"/>
                </a:solidFill>
                <a:latin typeface="Calibri" pitchFamily="34" charset="0"/>
                <a:ea typeface="Calibri" pitchFamily="34" charset="-122"/>
                <a:cs typeface="Calibri" pitchFamily="34" charset="-120"/>
              </a:rPr>
              <a:t>Key Idea</a:t>
            </a:r>
            <a:endParaRPr lang="en-US" sz="1300" dirty="0"/>
          </a:p>
        </p:txBody>
      </p:sp>
      <p:sp>
        <p:nvSpPr>
          <p:cNvPr id="8" name="Shape 6"/>
          <p:cNvSpPr/>
          <p:nvPr/>
        </p:nvSpPr>
        <p:spPr>
          <a:xfrm>
            <a:off x="7589520" y="2057400"/>
            <a:ext cx="1554480" cy="1188720"/>
          </a:xfrm>
          <a:prstGeom prst="roundRect">
            <a:avLst>
              <a:gd name="adj" fmla="val 5385"/>
            </a:avLst>
          </a:prstGeom>
          <a:solidFill>
            <a:srgbClr val="1E2761"/>
          </a:solidFill>
          <a:ln/>
        </p:spPr>
      </p:sp>
      <p:sp>
        <p:nvSpPr>
          <p:cNvPr id="9" name="Text 7"/>
          <p:cNvSpPr/>
          <p:nvPr/>
        </p:nvSpPr>
        <p:spPr>
          <a:xfrm>
            <a:off x="7589520" y="2057400"/>
            <a:ext cx="1554480" cy="11887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Cover</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Image</a:t>
            </a:r>
            <a:endParaRPr lang="en-US" sz="1250" dirty="0"/>
          </a:p>
        </p:txBody>
      </p:sp>
      <p:sp>
        <p:nvSpPr>
          <p:cNvPr id="10" name="Text 8"/>
          <p:cNvSpPr/>
          <p:nvPr/>
        </p:nvSpPr>
        <p:spPr>
          <a:xfrm>
            <a:off x="9189720" y="2331720"/>
            <a:ext cx="411480" cy="640080"/>
          </a:xfrm>
          <a:prstGeom prst="rect">
            <a:avLst/>
          </a:prstGeom>
          <a:noFill/>
          <a:ln/>
        </p:spPr>
        <p:txBody>
          <a:bodyPr wrap="square" lIns="0" tIns="0" rIns="0" bIns="0" rtlCol="0" anchor="ctr"/>
          <a:lstStyle/>
          <a:p>
            <a:pPr algn="ctr" indent="0" marL="0">
              <a:buNone/>
            </a:pPr>
            <a:r>
              <a:rPr lang="en-US" sz="2200" b="1" dirty="0">
                <a:solidFill>
                  <a:srgbClr val="6B7280"/>
                </a:solidFill>
                <a:latin typeface="Calibri" pitchFamily="34" charset="0"/>
                <a:ea typeface="Calibri" pitchFamily="34" charset="-122"/>
                <a:cs typeface="Calibri" pitchFamily="34" charset="-120"/>
              </a:rPr>
              <a:t>+</a:t>
            </a:r>
            <a:endParaRPr lang="en-US" sz="2200" dirty="0"/>
          </a:p>
        </p:txBody>
      </p:sp>
      <p:sp>
        <p:nvSpPr>
          <p:cNvPr id="11" name="Shape 9"/>
          <p:cNvSpPr/>
          <p:nvPr/>
        </p:nvSpPr>
        <p:spPr>
          <a:xfrm>
            <a:off x="9646920" y="2057400"/>
            <a:ext cx="1554480" cy="1188720"/>
          </a:xfrm>
          <a:prstGeom prst="roundRect">
            <a:avLst>
              <a:gd name="adj" fmla="val 5385"/>
            </a:avLst>
          </a:prstGeom>
          <a:solidFill>
            <a:srgbClr val="00C2A8"/>
          </a:solidFill>
          <a:ln/>
        </p:spPr>
      </p:sp>
      <p:sp>
        <p:nvSpPr>
          <p:cNvPr id="12" name="Text 10"/>
          <p:cNvSpPr/>
          <p:nvPr/>
        </p:nvSpPr>
        <p:spPr>
          <a:xfrm>
            <a:off x="9646920" y="2057400"/>
            <a:ext cx="1554480" cy="1188720"/>
          </a:xfrm>
          <a:prstGeom prst="rect">
            <a:avLst/>
          </a:prstGeom>
          <a:noFill/>
          <a:ln/>
        </p:spPr>
        <p:txBody>
          <a:bodyPr wrap="square" lIns="0" tIns="0" rIns="0" bIns="0"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Secret</a:t>
            </a:r>
            <a:endParaRPr lang="en-US" sz="1250" dirty="0"/>
          </a:p>
          <a:p>
            <a:pPr algn="ctr" indent="0" marL="0">
              <a:buNone/>
            </a:pPr>
            <a:r>
              <a:rPr lang="en-US" sz="1250" b="1" dirty="0">
                <a:solidFill>
                  <a:srgbClr val="1E2761"/>
                </a:solidFill>
                <a:latin typeface="Calibri" pitchFamily="34" charset="0"/>
                <a:ea typeface="Calibri" pitchFamily="34" charset="-122"/>
                <a:cs typeface="Calibri" pitchFamily="34" charset="-120"/>
              </a:rPr>
              <a:t>Message</a:t>
            </a:r>
            <a:endParaRPr lang="en-US" sz="1250" dirty="0"/>
          </a:p>
        </p:txBody>
      </p:sp>
      <p:sp>
        <p:nvSpPr>
          <p:cNvPr id="13" name="Shape 11"/>
          <p:cNvSpPr/>
          <p:nvPr/>
        </p:nvSpPr>
        <p:spPr>
          <a:xfrm>
            <a:off x="8503920" y="3429000"/>
            <a:ext cx="0" cy="457200"/>
          </a:xfrm>
          <a:prstGeom prst="line">
            <a:avLst/>
          </a:prstGeom>
          <a:noFill/>
          <a:ln w="19050">
            <a:solidFill>
              <a:srgbClr val="6B7280"/>
            </a:solidFill>
            <a:prstDash val="solid"/>
            <a:tailEnd type="triangle"/>
          </a:ln>
        </p:spPr>
      </p:sp>
      <p:sp>
        <p:nvSpPr>
          <p:cNvPr id="14" name="Shape 12"/>
          <p:cNvSpPr/>
          <p:nvPr/>
        </p:nvSpPr>
        <p:spPr>
          <a:xfrm>
            <a:off x="7589520" y="3931920"/>
            <a:ext cx="3611880" cy="1097280"/>
          </a:xfrm>
          <a:prstGeom prst="roundRect">
            <a:avLst>
              <a:gd name="adj" fmla="val 5833"/>
            </a:avLst>
          </a:prstGeom>
          <a:solidFill>
            <a:srgbClr val="FFFFFF"/>
          </a:solidFill>
          <a:ln w="19050">
            <a:solidFill>
              <a:srgbClr val="1E2761"/>
            </a:solidFill>
            <a:prstDash val="solid"/>
          </a:ln>
        </p:spPr>
      </p:sp>
      <p:sp>
        <p:nvSpPr>
          <p:cNvPr id="15" name="Text 13"/>
          <p:cNvSpPr/>
          <p:nvPr/>
        </p:nvSpPr>
        <p:spPr>
          <a:xfrm>
            <a:off x="7589520" y="4023360"/>
            <a:ext cx="3611880" cy="365760"/>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Stego-Image</a:t>
            </a:r>
            <a:endParaRPr lang="en-US" sz="1300" dirty="0"/>
          </a:p>
        </p:txBody>
      </p:sp>
      <p:sp>
        <p:nvSpPr>
          <p:cNvPr id="16" name="Text 14"/>
          <p:cNvSpPr/>
          <p:nvPr/>
        </p:nvSpPr>
        <p:spPr>
          <a:xfrm>
            <a:off x="7589520" y="4370832"/>
            <a:ext cx="3611880" cy="548640"/>
          </a:xfrm>
          <a:prstGeom prst="rect">
            <a:avLst/>
          </a:prstGeom>
          <a:noFill/>
          <a:ln/>
        </p:spPr>
        <p:txBody>
          <a:bodyPr wrap="square" lIns="0" tIns="0" rIns="0" bIns="0" rtlCol="0" anchor="ctr"/>
          <a:lstStyle/>
          <a:p>
            <a:pPr algn="ctr" indent="0" marL="0">
              <a:buNone/>
            </a:pPr>
            <a:r>
              <a:rPr lang="en-US" sz="1100" i="1" dirty="0">
                <a:solidFill>
                  <a:srgbClr val="6B7280"/>
                </a:solidFill>
                <a:latin typeface="Calibri" pitchFamily="34" charset="0"/>
                <a:ea typeface="Calibri" pitchFamily="34" charset="-122"/>
                <a:cs typeface="Calibri" pitchFamily="34" charset="-120"/>
              </a:rPr>
              <a:t>Visually identical to the original</a:t>
            </a:r>
            <a:endParaRPr lang="en-US" sz="1100" dirty="0"/>
          </a:p>
        </p:txBody>
      </p:sp>
      <p:sp>
        <p:nvSpPr>
          <p:cNvPr id="17" name="Text 15"/>
          <p:cNvSpPr/>
          <p:nvPr/>
        </p:nvSpPr>
        <p:spPr>
          <a:xfrm>
            <a:off x="7498080" y="5212080"/>
            <a:ext cx="3931920" cy="457200"/>
          </a:xfrm>
          <a:prstGeom prst="rect">
            <a:avLst/>
          </a:prstGeom>
          <a:noFill/>
          <a:ln/>
        </p:spPr>
        <p:txBody>
          <a:bodyPr wrap="square" rtlCol="0" anchor="ctr"/>
          <a:lstStyle/>
          <a:p>
            <a:pPr indent="0" marL="0">
              <a:buNone/>
            </a:pPr>
            <a:r>
              <a:rPr lang="en-US" sz="1100" i="1" dirty="0">
                <a:solidFill>
                  <a:srgbClr val="1E2761"/>
                </a:solidFill>
                <a:latin typeface="Calibri" pitchFamily="34" charset="0"/>
                <a:ea typeface="Calibri" pitchFamily="34" charset="-122"/>
                <a:cs typeface="Calibri" pitchFamily="34" charset="-120"/>
              </a:rPr>
              <a:t>No perceptible distortion • Low computational complexity</a:t>
            </a:r>
            <a:endParaRPr lang="en-US" sz="1100" dirty="0"/>
          </a:p>
        </p:txBody>
      </p:sp>
      <p:sp>
        <p:nvSpPr>
          <p:cNvPr id="18" name="Text 16"/>
          <p:cNvSpPr/>
          <p:nvPr/>
        </p:nvSpPr>
        <p:spPr>
          <a:xfrm>
            <a:off x="11475720" y="6473952"/>
            <a:ext cx="4572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5486400" cy="548640"/>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Objectives</a:t>
            </a:r>
            <a:endParaRPr lang="en-US" sz="3200" dirty="0"/>
          </a:p>
        </p:txBody>
      </p:sp>
      <p:sp>
        <p:nvSpPr>
          <p:cNvPr id="3" name="Text 1"/>
          <p:cNvSpPr/>
          <p:nvPr/>
        </p:nvSpPr>
        <p:spPr>
          <a:xfrm>
            <a:off x="548640" y="914400"/>
            <a:ext cx="2743200" cy="320040"/>
          </a:xfrm>
          <a:prstGeom prst="rect">
            <a:avLst/>
          </a:prstGeom>
          <a:noFill/>
          <a:ln/>
        </p:spPr>
        <p:txBody>
          <a:bodyPr wrap="square" rtlCol="0" anchor="ctr"/>
          <a:lstStyle/>
          <a:p>
            <a:pPr indent="0" marL="0">
              <a:buNone/>
            </a:pPr>
            <a:r>
              <a:rPr lang="en-US" sz="1200" i="1" dirty="0">
                <a:solidFill>
                  <a:srgbClr val="6B7280"/>
                </a:solidFill>
                <a:latin typeface="Calibri" pitchFamily="34" charset="0"/>
                <a:ea typeface="Calibri" pitchFamily="34" charset="-122"/>
                <a:cs typeface="Calibri" pitchFamily="34" charset="-120"/>
              </a:rPr>
              <a:t>Part 1 of 2</a:t>
            </a:r>
            <a:endParaRPr lang="en-US" sz="1200" dirty="0"/>
          </a:p>
        </p:txBody>
      </p:sp>
      <p:sp>
        <p:nvSpPr>
          <p:cNvPr id="4" name="Shape 2"/>
          <p:cNvSpPr/>
          <p:nvPr/>
        </p:nvSpPr>
        <p:spPr>
          <a:xfrm>
            <a:off x="548640" y="1508760"/>
            <a:ext cx="5349240" cy="2103120"/>
          </a:xfrm>
          <a:prstGeom prst="roundRect">
            <a:avLst>
              <a:gd name="adj" fmla="val 3478"/>
            </a:avLst>
          </a:prstGeom>
          <a:solidFill>
            <a:srgbClr val="F4F6FB"/>
          </a:solidFill>
          <a:ln w="12700">
            <a:solidFill>
              <a:srgbClr val="CADCFC"/>
            </a:solidFill>
            <a:prstDash val="solid"/>
          </a:ln>
        </p:spPr>
      </p:sp>
      <p:sp>
        <p:nvSpPr>
          <p:cNvPr id="5" name="Shape 3"/>
          <p:cNvSpPr/>
          <p:nvPr/>
        </p:nvSpPr>
        <p:spPr>
          <a:xfrm>
            <a:off x="822960" y="1783080"/>
            <a:ext cx="566928" cy="566928"/>
          </a:xfrm>
          <a:prstGeom prst="ellipse">
            <a:avLst/>
          </a:prstGeom>
          <a:solidFill>
            <a:srgbClr val="1E2761"/>
          </a:solidFill>
          <a:ln/>
        </p:spPr>
      </p:sp>
      <p:sp>
        <p:nvSpPr>
          <p:cNvPr id="6" name="Text 4"/>
          <p:cNvSpPr/>
          <p:nvPr/>
        </p:nvSpPr>
        <p:spPr>
          <a:xfrm>
            <a:off x="822960" y="1783080"/>
            <a:ext cx="566928" cy="566928"/>
          </a:xfrm>
          <a:prstGeom prst="rect">
            <a:avLst/>
          </a:prstGeom>
          <a:noFill/>
          <a:ln/>
        </p:spPr>
        <p:txBody>
          <a:bodyPr wrap="square" lIns="0" tIns="0" rIns="0" bIns="0" rtlCol="0" anchor="ctr"/>
          <a:lstStyle/>
          <a:p>
            <a:pPr algn="ctr" indent="0" marL="0">
              <a:buNone/>
            </a:pPr>
            <a:r>
              <a:rPr lang="en-US" sz="1600" b="1" dirty="0">
                <a:solidFill>
                  <a:srgbClr val="00C2A8"/>
                </a:solidFill>
                <a:latin typeface="Cambria" pitchFamily="34" charset="0"/>
                <a:ea typeface="Cambria" pitchFamily="34" charset="-122"/>
                <a:cs typeface="Cambria" pitchFamily="34" charset="-120"/>
              </a:rPr>
              <a:t>01</a:t>
            </a:r>
            <a:endParaRPr lang="en-US" sz="1600" dirty="0"/>
          </a:p>
        </p:txBody>
      </p:sp>
      <p:sp>
        <p:nvSpPr>
          <p:cNvPr id="7" name="Text 5"/>
          <p:cNvSpPr/>
          <p:nvPr/>
        </p:nvSpPr>
        <p:spPr>
          <a:xfrm>
            <a:off x="1554480" y="1764792"/>
            <a:ext cx="4069080" cy="36576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Design &amp; Develop</a:t>
            </a:r>
            <a:endParaRPr lang="en-US" sz="1500" dirty="0"/>
          </a:p>
        </p:txBody>
      </p:sp>
      <p:sp>
        <p:nvSpPr>
          <p:cNvPr id="8" name="Text 6"/>
          <p:cNvSpPr/>
          <p:nvPr/>
        </p:nvSpPr>
        <p:spPr>
          <a:xfrm>
            <a:off x="822960" y="2468880"/>
            <a:ext cx="4800600" cy="1005840"/>
          </a:xfrm>
          <a:prstGeom prst="rect">
            <a:avLst/>
          </a:prstGeom>
          <a:noFill/>
          <a:ln/>
        </p:spPr>
        <p:txBody>
          <a:bodyPr wrap="square" lIns="0" tIns="0" rIns="0" bIns="0" rtlCol="0" anchor="ctr"/>
          <a:lstStyle/>
          <a:p>
            <a:pPr indent="0" marL="0">
              <a:lnSpc>
                <a:spcPct val="120000"/>
              </a:lnSpc>
              <a:buNone/>
            </a:pPr>
            <a:r>
              <a:rPr lang="en-US" sz="1200" dirty="0">
                <a:solidFill>
                  <a:srgbClr val="1B1F3B"/>
                </a:solidFill>
                <a:latin typeface="Calibri" pitchFamily="34" charset="0"/>
                <a:ea typeface="Calibri" pitchFamily="34" charset="-122"/>
                <a:cs typeface="Calibri" pitchFamily="34" charset="-120"/>
              </a:rPr>
              <a:t>Build an LSB-based image steganography system for securely hiding secret text messages within digital images.</a:t>
            </a:r>
            <a:endParaRPr lang="en-US" sz="1200" dirty="0"/>
          </a:p>
        </p:txBody>
      </p:sp>
      <p:sp>
        <p:nvSpPr>
          <p:cNvPr id="9" name="Shape 7"/>
          <p:cNvSpPr/>
          <p:nvPr/>
        </p:nvSpPr>
        <p:spPr>
          <a:xfrm>
            <a:off x="6263640" y="1508760"/>
            <a:ext cx="5349240" cy="2103120"/>
          </a:xfrm>
          <a:prstGeom prst="roundRect">
            <a:avLst>
              <a:gd name="adj" fmla="val 3478"/>
            </a:avLst>
          </a:prstGeom>
          <a:solidFill>
            <a:srgbClr val="F4F6FB"/>
          </a:solidFill>
          <a:ln w="12700">
            <a:solidFill>
              <a:srgbClr val="CADCFC"/>
            </a:solidFill>
            <a:prstDash val="solid"/>
          </a:ln>
        </p:spPr>
      </p:sp>
      <p:sp>
        <p:nvSpPr>
          <p:cNvPr id="10" name="Shape 8"/>
          <p:cNvSpPr/>
          <p:nvPr/>
        </p:nvSpPr>
        <p:spPr>
          <a:xfrm>
            <a:off x="6537960" y="1783080"/>
            <a:ext cx="566928" cy="566928"/>
          </a:xfrm>
          <a:prstGeom prst="ellipse">
            <a:avLst/>
          </a:prstGeom>
          <a:solidFill>
            <a:srgbClr val="1E2761"/>
          </a:solidFill>
          <a:ln/>
        </p:spPr>
      </p:sp>
      <p:sp>
        <p:nvSpPr>
          <p:cNvPr id="11" name="Text 9"/>
          <p:cNvSpPr/>
          <p:nvPr/>
        </p:nvSpPr>
        <p:spPr>
          <a:xfrm>
            <a:off x="6537960" y="1783080"/>
            <a:ext cx="566928" cy="566928"/>
          </a:xfrm>
          <a:prstGeom prst="rect">
            <a:avLst/>
          </a:prstGeom>
          <a:noFill/>
          <a:ln/>
        </p:spPr>
        <p:txBody>
          <a:bodyPr wrap="square" lIns="0" tIns="0" rIns="0" bIns="0" rtlCol="0" anchor="ctr"/>
          <a:lstStyle/>
          <a:p>
            <a:pPr algn="ctr" indent="0" marL="0">
              <a:buNone/>
            </a:pPr>
            <a:r>
              <a:rPr lang="en-US" sz="1600" b="1" dirty="0">
                <a:solidFill>
                  <a:srgbClr val="00C2A8"/>
                </a:solidFill>
                <a:latin typeface="Cambria" pitchFamily="34" charset="0"/>
                <a:ea typeface="Cambria" pitchFamily="34" charset="-122"/>
                <a:cs typeface="Cambria" pitchFamily="34" charset="-120"/>
              </a:rPr>
              <a:t>02</a:t>
            </a:r>
            <a:endParaRPr lang="en-US" sz="1600" dirty="0"/>
          </a:p>
        </p:txBody>
      </p:sp>
      <p:sp>
        <p:nvSpPr>
          <p:cNvPr id="12" name="Text 10"/>
          <p:cNvSpPr/>
          <p:nvPr/>
        </p:nvSpPr>
        <p:spPr>
          <a:xfrm>
            <a:off x="7269480" y="1764792"/>
            <a:ext cx="4069080" cy="36576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Binary Conversion</a:t>
            </a:r>
            <a:endParaRPr lang="en-US" sz="1500" dirty="0"/>
          </a:p>
        </p:txBody>
      </p:sp>
      <p:sp>
        <p:nvSpPr>
          <p:cNvPr id="13" name="Text 11"/>
          <p:cNvSpPr/>
          <p:nvPr/>
        </p:nvSpPr>
        <p:spPr>
          <a:xfrm>
            <a:off x="6537960" y="2468880"/>
            <a:ext cx="4800600" cy="1005840"/>
          </a:xfrm>
          <a:prstGeom prst="rect">
            <a:avLst/>
          </a:prstGeom>
          <a:noFill/>
          <a:ln/>
        </p:spPr>
        <p:txBody>
          <a:bodyPr wrap="square" lIns="0" tIns="0" rIns="0" bIns="0" rtlCol="0" anchor="ctr"/>
          <a:lstStyle/>
          <a:p>
            <a:pPr indent="0" marL="0">
              <a:lnSpc>
                <a:spcPct val="120000"/>
              </a:lnSpc>
              <a:buNone/>
            </a:pPr>
            <a:r>
              <a:rPr lang="en-US" sz="1200" dirty="0">
                <a:solidFill>
                  <a:srgbClr val="1B1F3B"/>
                </a:solidFill>
                <a:latin typeface="Calibri" pitchFamily="34" charset="0"/>
                <a:ea typeface="Calibri" pitchFamily="34" charset="-122"/>
                <a:cs typeface="Calibri" pitchFamily="34" charset="-120"/>
              </a:rPr>
              <a:t>Convert the secret message into binary form and embed its data into the least significant bits of image pixels.</a:t>
            </a:r>
            <a:endParaRPr lang="en-US" sz="1200" dirty="0"/>
          </a:p>
        </p:txBody>
      </p:sp>
      <p:sp>
        <p:nvSpPr>
          <p:cNvPr id="14" name="Shape 12"/>
          <p:cNvSpPr/>
          <p:nvPr/>
        </p:nvSpPr>
        <p:spPr>
          <a:xfrm>
            <a:off x="548640" y="3886200"/>
            <a:ext cx="5349240" cy="2103120"/>
          </a:xfrm>
          <a:prstGeom prst="roundRect">
            <a:avLst>
              <a:gd name="adj" fmla="val 3478"/>
            </a:avLst>
          </a:prstGeom>
          <a:solidFill>
            <a:srgbClr val="F4F6FB"/>
          </a:solidFill>
          <a:ln w="12700">
            <a:solidFill>
              <a:srgbClr val="CADCFC"/>
            </a:solidFill>
            <a:prstDash val="solid"/>
          </a:ln>
        </p:spPr>
      </p:sp>
      <p:sp>
        <p:nvSpPr>
          <p:cNvPr id="15" name="Shape 13"/>
          <p:cNvSpPr/>
          <p:nvPr/>
        </p:nvSpPr>
        <p:spPr>
          <a:xfrm>
            <a:off x="822960" y="4160520"/>
            <a:ext cx="566928" cy="566928"/>
          </a:xfrm>
          <a:prstGeom prst="ellipse">
            <a:avLst/>
          </a:prstGeom>
          <a:solidFill>
            <a:srgbClr val="1E2761"/>
          </a:solidFill>
          <a:ln/>
        </p:spPr>
      </p:sp>
      <p:sp>
        <p:nvSpPr>
          <p:cNvPr id="16" name="Text 14"/>
          <p:cNvSpPr/>
          <p:nvPr/>
        </p:nvSpPr>
        <p:spPr>
          <a:xfrm>
            <a:off x="822960" y="4160520"/>
            <a:ext cx="566928" cy="566928"/>
          </a:xfrm>
          <a:prstGeom prst="rect">
            <a:avLst/>
          </a:prstGeom>
          <a:noFill/>
          <a:ln/>
        </p:spPr>
        <p:txBody>
          <a:bodyPr wrap="square" lIns="0" tIns="0" rIns="0" bIns="0" rtlCol="0" anchor="ctr"/>
          <a:lstStyle/>
          <a:p>
            <a:pPr algn="ctr" indent="0" marL="0">
              <a:buNone/>
            </a:pPr>
            <a:r>
              <a:rPr lang="en-US" sz="1600" b="1" dirty="0">
                <a:solidFill>
                  <a:srgbClr val="00C2A8"/>
                </a:solidFill>
                <a:latin typeface="Cambria" pitchFamily="34" charset="0"/>
                <a:ea typeface="Cambria" pitchFamily="34" charset="-122"/>
                <a:cs typeface="Cambria" pitchFamily="34" charset="-120"/>
              </a:rPr>
              <a:t>03</a:t>
            </a:r>
            <a:endParaRPr lang="en-US" sz="1600" dirty="0"/>
          </a:p>
        </p:txBody>
      </p:sp>
      <p:sp>
        <p:nvSpPr>
          <p:cNvPr id="17" name="Text 15"/>
          <p:cNvSpPr/>
          <p:nvPr/>
        </p:nvSpPr>
        <p:spPr>
          <a:xfrm>
            <a:off x="1554480" y="4142232"/>
            <a:ext cx="4069080" cy="36576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Encoding Mechanism</a:t>
            </a:r>
            <a:endParaRPr lang="en-US" sz="1500" dirty="0"/>
          </a:p>
        </p:txBody>
      </p:sp>
      <p:sp>
        <p:nvSpPr>
          <p:cNvPr id="18" name="Text 16"/>
          <p:cNvSpPr/>
          <p:nvPr/>
        </p:nvSpPr>
        <p:spPr>
          <a:xfrm>
            <a:off x="822960" y="4846320"/>
            <a:ext cx="4800600" cy="1005840"/>
          </a:xfrm>
          <a:prstGeom prst="rect">
            <a:avLst/>
          </a:prstGeom>
          <a:noFill/>
          <a:ln/>
        </p:spPr>
        <p:txBody>
          <a:bodyPr wrap="square" lIns="0" tIns="0" rIns="0" bIns="0" rtlCol="0" anchor="ctr"/>
          <a:lstStyle/>
          <a:p>
            <a:pPr indent="0" marL="0">
              <a:lnSpc>
                <a:spcPct val="120000"/>
              </a:lnSpc>
              <a:buNone/>
            </a:pPr>
            <a:r>
              <a:rPr lang="en-US" sz="1200" dirty="0">
                <a:solidFill>
                  <a:srgbClr val="1B1F3B"/>
                </a:solidFill>
                <a:latin typeface="Calibri" pitchFamily="34" charset="0"/>
                <a:ea typeface="Calibri" pitchFamily="34" charset="-122"/>
                <a:cs typeface="Calibri" pitchFamily="34" charset="-120"/>
              </a:rPr>
              <a:t>Hide the secret message while preserving the visual quality of the original cover image.</a:t>
            </a:r>
            <a:endParaRPr lang="en-US" sz="1200" dirty="0"/>
          </a:p>
        </p:txBody>
      </p:sp>
      <p:sp>
        <p:nvSpPr>
          <p:cNvPr id="19" name="Shape 17"/>
          <p:cNvSpPr/>
          <p:nvPr/>
        </p:nvSpPr>
        <p:spPr>
          <a:xfrm>
            <a:off x="6263640" y="3886200"/>
            <a:ext cx="5349240" cy="2103120"/>
          </a:xfrm>
          <a:prstGeom prst="roundRect">
            <a:avLst>
              <a:gd name="adj" fmla="val 3478"/>
            </a:avLst>
          </a:prstGeom>
          <a:solidFill>
            <a:srgbClr val="F4F6FB"/>
          </a:solidFill>
          <a:ln w="12700">
            <a:solidFill>
              <a:srgbClr val="CADCFC"/>
            </a:solidFill>
            <a:prstDash val="solid"/>
          </a:ln>
        </p:spPr>
      </p:sp>
      <p:sp>
        <p:nvSpPr>
          <p:cNvPr id="20" name="Shape 18"/>
          <p:cNvSpPr/>
          <p:nvPr/>
        </p:nvSpPr>
        <p:spPr>
          <a:xfrm>
            <a:off x="6537960" y="4160520"/>
            <a:ext cx="566928" cy="566928"/>
          </a:xfrm>
          <a:prstGeom prst="ellipse">
            <a:avLst/>
          </a:prstGeom>
          <a:solidFill>
            <a:srgbClr val="1E2761"/>
          </a:solidFill>
          <a:ln/>
        </p:spPr>
      </p:sp>
      <p:sp>
        <p:nvSpPr>
          <p:cNvPr id="21" name="Text 19"/>
          <p:cNvSpPr/>
          <p:nvPr/>
        </p:nvSpPr>
        <p:spPr>
          <a:xfrm>
            <a:off x="6537960" y="4160520"/>
            <a:ext cx="566928" cy="566928"/>
          </a:xfrm>
          <a:prstGeom prst="rect">
            <a:avLst/>
          </a:prstGeom>
          <a:noFill/>
          <a:ln/>
        </p:spPr>
        <p:txBody>
          <a:bodyPr wrap="square" lIns="0" tIns="0" rIns="0" bIns="0" rtlCol="0" anchor="ctr"/>
          <a:lstStyle/>
          <a:p>
            <a:pPr algn="ctr" indent="0" marL="0">
              <a:buNone/>
            </a:pPr>
            <a:r>
              <a:rPr lang="en-US" sz="1600" b="1" dirty="0">
                <a:solidFill>
                  <a:srgbClr val="00C2A8"/>
                </a:solidFill>
                <a:latin typeface="Cambria" pitchFamily="34" charset="0"/>
                <a:ea typeface="Cambria" pitchFamily="34" charset="-122"/>
                <a:cs typeface="Cambria" pitchFamily="34" charset="-120"/>
              </a:rPr>
              <a:t>04</a:t>
            </a:r>
            <a:endParaRPr lang="en-US" sz="1600" dirty="0"/>
          </a:p>
        </p:txBody>
      </p:sp>
      <p:sp>
        <p:nvSpPr>
          <p:cNvPr id="22" name="Text 20"/>
          <p:cNvSpPr/>
          <p:nvPr/>
        </p:nvSpPr>
        <p:spPr>
          <a:xfrm>
            <a:off x="7269480" y="4142232"/>
            <a:ext cx="4069080" cy="36576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Decoding Mechanism</a:t>
            </a:r>
            <a:endParaRPr lang="en-US" sz="1500" dirty="0"/>
          </a:p>
        </p:txBody>
      </p:sp>
      <p:sp>
        <p:nvSpPr>
          <p:cNvPr id="23" name="Text 21"/>
          <p:cNvSpPr/>
          <p:nvPr/>
        </p:nvSpPr>
        <p:spPr>
          <a:xfrm>
            <a:off x="6537960" y="4846320"/>
            <a:ext cx="4800600" cy="1005840"/>
          </a:xfrm>
          <a:prstGeom prst="rect">
            <a:avLst/>
          </a:prstGeom>
          <a:noFill/>
          <a:ln/>
        </p:spPr>
        <p:txBody>
          <a:bodyPr wrap="square" lIns="0" tIns="0" rIns="0" bIns="0" rtlCol="0" anchor="ctr"/>
          <a:lstStyle/>
          <a:p>
            <a:pPr indent="0" marL="0">
              <a:lnSpc>
                <a:spcPct val="120000"/>
              </a:lnSpc>
              <a:buNone/>
            </a:pPr>
            <a:r>
              <a:rPr lang="en-US" sz="1200" dirty="0">
                <a:solidFill>
                  <a:srgbClr val="1B1F3B"/>
                </a:solidFill>
                <a:latin typeface="Calibri" pitchFamily="34" charset="0"/>
                <a:ea typeface="Calibri" pitchFamily="34" charset="-122"/>
                <a:cs typeface="Calibri" pitchFamily="34" charset="-120"/>
              </a:rPr>
              <a:t>Extract the hidden binary data from the stego-image and reconstruct the original secret message.</a:t>
            </a:r>
            <a:endParaRPr lang="en-US" sz="1200" dirty="0"/>
          </a:p>
        </p:txBody>
      </p:sp>
      <p:sp>
        <p:nvSpPr>
          <p:cNvPr id="24" name="Text 22"/>
          <p:cNvSpPr/>
          <p:nvPr/>
        </p:nvSpPr>
        <p:spPr>
          <a:xfrm>
            <a:off x="11475720" y="6473952"/>
            <a:ext cx="4572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5486400" cy="548640"/>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Objectives</a:t>
            </a:r>
            <a:endParaRPr lang="en-US" sz="3200" dirty="0"/>
          </a:p>
        </p:txBody>
      </p:sp>
      <p:sp>
        <p:nvSpPr>
          <p:cNvPr id="3" name="Text 1"/>
          <p:cNvSpPr/>
          <p:nvPr/>
        </p:nvSpPr>
        <p:spPr>
          <a:xfrm>
            <a:off x="548640" y="914400"/>
            <a:ext cx="2743200" cy="320040"/>
          </a:xfrm>
          <a:prstGeom prst="rect">
            <a:avLst/>
          </a:prstGeom>
          <a:noFill/>
          <a:ln/>
        </p:spPr>
        <p:txBody>
          <a:bodyPr wrap="square" rtlCol="0" anchor="ctr"/>
          <a:lstStyle/>
          <a:p>
            <a:pPr indent="0" marL="0">
              <a:buNone/>
            </a:pPr>
            <a:r>
              <a:rPr lang="en-US" sz="1200" i="1" dirty="0">
                <a:solidFill>
                  <a:srgbClr val="6B7280"/>
                </a:solidFill>
                <a:latin typeface="Calibri" pitchFamily="34" charset="0"/>
                <a:ea typeface="Calibri" pitchFamily="34" charset="-122"/>
                <a:cs typeface="Calibri" pitchFamily="34" charset="-120"/>
              </a:rPr>
              <a:t>Part 2 of 2</a:t>
            </a:r>
            <a:endParaRPr lang="en-US" sz="1200" dirty="0"/>
          </a:p>
        </p:txBody>
      </p:sp>
      <p:sp>
        <p:nvSpPr>
          <p:cNvPr id="4" name="Shape 2"/>
          <p:cNvSpPr/>
          <p:nvPr/>
        </p:nvSpPr>
        <p:spPr>
          <a:xfrm>
            <a:off x="548640" y="1508760"/>
            <a:ext cx="5349240" cy="2103120"/>
          </a:xfrm>
          <a:prstGeom prst="roundRect">
            <a:avLst>
              <a:gd name="adj" fmla="val 3478"/>
            </a:avLst>
          </a:prstGeom>
          <a:solidFill>
            <a:srgbClr val="F4F6FB"/>
          </a:solidFill>
          <a:ln w="12700">
            <a:solidFill>
              <a:srgbClr val="CADCFC"/>
            </a:solidFill>
            <a:prstDash val="solid"/>
          </a:ln>
        </p:spPr>
      </p:sp>
      <p:sp>
        <p:nvSpPr>
          <p:cNvPr id="5" name="Shape 3"/>
          <p:cNvSpPr/>
          <p:nvPr/>
        </p:nvSpPr>
        <p:spPr>
          <a:xfrm>
            <a:off x="822960" y="1783080"/>
            <a:ext cx="566928" cy="566928"/>
          </a:xfrm>
          <a:prstGeom prst="ellipse">
            <a:avLst/>
          </a:prstGeom>
          <a:solidFill>
            <a:srgbClr val="1E2761"/>
          </a:solidFill>
          <a:ln/>
        </p:spPr>
      </p:sp>
      <p:sp>
        <p:nvSpPr>
          <p:cNvPr id="6" name="Text 4"/>
          <p:cNvSpPr/>
          <p:nvPr/>
        </p:nvSpPr>
        <p:spPr>
          <a:xfrm>
            <a:off x="822960" y="1783080"/>
            <a:ext cx="566928" cy="566928"/>
          </a:xfrm>
          <a:prstGeom prst="rect">
            <a:avLst/>
          </a:prstGeom>
          <a:noFill/>
          <a:ln/>
        </p:spPr>
        <p:txBody>
          <a:bodyPr wrap="square" lIns="0" tIns="0" rIns="0" bIns="0" rtlCol="0" anchor="ctr"/>
          <a:lstStyle/>
          <a:p>
            <a:pPr algn="ctr" indent="0" marL="0">
              <a:buNone/>
            </a:pPr>
            <a:r>
              <a:rPr lang="en-US" sz="1600" b="1" dirty="0">
                <a:solidFill>
                  <a:srgbClr val="00C2A8"/>
                </a:solidFill>
                <a:latin typeface="Cambria" pitchFamily="34" charset="0"/>
                <a:ea typeface="Cambria" pitchFamily="34" charset="-122"/>
                <a:cs typeface="Cambria" pitchFamily="34" charset="-120"/>
              </a:rPr>
              <a:t>05</a:t>
            </a:r>
            <a:endParaRPr lang="en-US" sz="1600" dirty="0"/>
          </a:p>
        </p:txBody>
      </p:sp>
      <p:sp>
        <p:nvSpPr>
          <p:cNvPr id="7" name="Text 5"/>
          <p:cNvSpPr/>
          <p:nvPr/>
        </p:nvSpPr>
        <p:spPr>
          <a:xfrm>
            <a:off x="1554480" y="1764792"/>
            <a:ext cx="4069080" cy="36576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Message Boundary</a:t>
            </a:r>
            <a:endParaRPr lang="en-US" sz="1500" dirty="0"/>
          </a:p>
        </p:txBody>
      </p:sp>
      <p:sp>
        <p:nvSpPr>
          <p:cNvPr id="8" name="Text 6"/>
          <p:cNvSpPr/>
          <p:nvPr/>
        </p:nvSpPr>
        <p:spPr>
          <a:xfrm>
            <a:off x="822960" y="2468880"/>
            <a:ext cx="4800600" cy="1005840"/>
          </a:xfrm>
          <a:prstGeom prst="rect">
            <a:avLst/>
          </a:prstGeom>
          <a:noFill/>
          <a:ln/>
        </p:spPr>
        <p:txBody>
          <a:bodyPr wrap="square" lIns="0" tIns="0" rIns="0" bIns="0" rtlCol="0" anchor="ctr"/>
          <a:lstStyle/>
          <a:p>
            <a:pPr indent="0" marL="0">
              <a:lnSpc>
                <a:spcPct val="120000"/>
              </a:lnSpc>
              <a:buNone/>
            </a:pPr>
            <a:r>
              <a:rPr lang="en-US" sz="1200" dirty="0">
                <a:solidFill>
                  <a:srgbClr val="1B1F3B"/>
                </a:solidFill>
                <a:latin typeface="Calibri" pitchFamily="34" charset="0"/>
                <a:ea typeface="Calibri" pitchFamily="34" charset="-122"/>
                <a:cs typeface="Calibri" pitchFamily="34" charset="-120"/>
              </a:rPr>
              <a:t>Use a delimiter to accurately mark the end of the hidden message for reliable extraction.</a:t>
            </a:r>
            <a:endParaRPr lang="en-US" sz="1200" dirty="0"/>
          </a:p>
        </p:txBody>
      </p:sp>
      <p:sp>
        <p:nvSpPr>
          <p:cNvPr id="9" name="Shape 7"/>
          <p:cNvSpPr/>
          <p:nvPr/>
        </p:nvSpPr>
        <p:spPr>
          <a:xfrm>
            <a:off x="6263640" y="1508760"/>
            <a:ext cx="5349240" cy="2103120"/>
          </a:xfrm>
          <a:prstGeom prst="roundRect">
            <a:avLst>
              <a:gd name="adj" fmla="val 3478"/>
            </a:avLst>
          </a:prstGeom>
          <a:solidFill>
            <a:srgbClr val="F4F6FB"/>
          </a:solidFill>
          <a:ln w="12700">
            <a:solidFill>
              <a:srgbClr val="CADCFC"/>
            </a:solidFill>
            <a:prstDash val="solid"/>
          </a:ln>
        </p:spPr>
      </p:sp>
      <p:sp>
        <p:nvSpPr>
          <p:cNvPr id="10" name="Shape 8"/>
          <p:cNvSpPr/>
          <p:nvPr/>
        </p:nvSpPr>
        <p:spPr>
          <a:xfrm>
            <a:off x="6537960" y="1783080"/>
            <a:ext cx="566928" cy="566928"/>
          </a:xfrm>
          <a:prstGeom prst="ellipse">
            <a:avLst/>
          </a:prstGeom>
          <a:solidFill>
            <a:srgbClr val="1E2761"/>
          </a:solidFill>
          <a:ln/>
        </p:spPr>
      </p:sp>
      <p:sp>
        <p:nvSpPr>
          <p:cNvPr id="11" name="Text 9"/>
          <p:cNvSpPr/>
          <p:nvPr/>
        </p:nvSpPr>
        <p:spPr>
          <a:xfrm>
            <a:off x="6537960" y="1783080"/>
            <a:ext cx="566928" cy="566928"/>
          </a:xfrm>
          <a:prstGeom prst="rect">
            <a:avLst/>
          </a:prstGeom>
          <a:noFill/>
          <a:ln/>
        </p:spPr>
        <p:txBody>
          <a:bodyPr wrap="square" lIns="0" tIns="0" rIns="0" bIns="0" rtlCol="0" anchor="ctr"/>
          <a:lstStyle/>
          <a:p>
            <a:pPr algn="ctr" indent="0" marL="0">
              <a:buNone/>
            </a:pPr>
            <a:r>
              <a:rPr lang="en-US" sz="1600" b="1" dirty="0">
                <a:solidFill>
                  <a:srgbClr val="00C2A8"/>
                </a:solidFill>
                <a:latin typeface="Cambria" pitchFamily="34" charset="0"/>
                <a:ea typeface="Cambria" pitchFamily="34" charset="-122"/>
                <a:cs typeface="Cambria" pitchFamily="34" charset="-120"/>
              </a:rPr>
              <a:t>06</a:t>
            </a:r>
            <a:endParaRPr lang="en-US" sz="1600" dirty="0"/>
          </a:p>
        </p:txBody>
      </p:sp>
      <p:sp>
        <p:nvSpPr>
          <p:cNvPr id="12" name="Text 10"/>
          <p:cNvSpPr/>
          <p:nvPr/>
        </p:nvSpPr>
        <p:spPr>
          <a:xfrm>
            <a:off x="7269480" y="1764792"/>
            <a:ext cx="4069080" cy="36576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Minimal Distortion</a:t>
            </a:r>
            <a:endParaRPr lang="en-US" sz="1500" dirty="0"/>
          </a:p>
        </p:txBody>
      </p:sp>
      <p:sp>
        <p:nvSpPr>
          <p:cNvPr id="13" name="Text 11"/>
          <p:cNvSpPr/>
          <p:nvPr/>
        </p:nvSpPr>
        <p:spPr>
          <a:xfrm>
            <a:off x="6537960" y="2468880"/>
            <a:ext cx="4800600" cy="1005840"/>
          </a:xfrm>
          <a:prstGeom prst="rect">
            <a:avLst/>
          </a:prstGeom>
          <a:noFill/>
          <a:ln/>
        </p:spPr>
        <p:txBody>
          <a:bodyPr wrap="square" lIns="0" tIns="0" rIns="0" bIns="0" rtlCol="0" anchor="ctr"/>
          <a:lstStyle/>
          <a:p>
            <a:pPr indent="0" marL="0">
              <a:lnSpc>
                <a:spcPct val="120000"/>
              </a:lnSpc>
              <a:buNone/>
            </a:pPr>
            <a:r>
              <a:rPr lang="en-US" sz="1200" dirty="0">
                <a:solidFill>
                  <a:srgbClr val="1B1F3B"/>
                </a:solidFill>
                <a:latin typeface="Calibri" pitchFamily="34" charset="0"/>
                <a:ea typeface="Calibri" pitchFamily="34" charset="-122"/>
                <a:cs typeface="Calibri" pitchFamily="34" charset="-120"/>
              </a:rPr>
              <a:t>Minimize perceptible changes to the cover image by modifying only the least significant bits.</a:t>
            </a:r>
            <a:endParaRPr lang="en-US" sz="1200" dirty="0"/>
          </a:p>
        </p:txBody>
      </p:sp>
      <p:sp>
        <p:nvSpPr>
          <p:cNvPr id="14" name="Shape 12"/>
          <p:cNvSpPr/>
          <p:nvPr/>
        </p:nvSpPr>
        <p:spPr>
          <a:xfrm>
            <a:off x="548640" y="3886200"/>
            <a:ext cx="5349240" cy="2103120"/>
          </a:xfrm>
          <a:prstGeom prst="roundRect">
            <a:avLst>
              <a:gd name="adj" fmla="val 3478"/>
            </a:avLst>
          </a:prstGeom>
          <a:solidFill>
            <a:srgbClr val="F4F6FB"/>
          </a:solidFill>
          <a:ln w="12700">
            <a:solidFill>
              <a:srgbClr val="CADCFC"/>
            </a:solidFill>
            <a:prstDash val="solid"/>
          </a:ln>
        </p:spPr>
      </p:sp>
      <p:sp>
        <p:nvSpPr>
          <p:cNvPr id="15" name="Shape 13"/>
          <p:cNvSpPr/>
          <p:nvPr/>
        </p:nvSpPr>
        <p:spPr>
          <a:xfrm>
            <a:off x="822960" y="4160520"/>
            <a:ext cx="566928" cy="566928"/>
          </a:xfrm>
          <a:prstGeom prst="ellipse">
            <a:avLst/>
          </a:prstGeom>
          <a:solidFill>
            <a:srgbClr val="1E2761"/>
          </a:solidFill>
          <a:ln/>
        </p:spPr>
      </p:sp>
      <p:sp>
        <p:nvSpPr>
          <p:cNvPr id="16" name="Text 14"/>
          <p:cNvSpPr/>
          <p:nvPr/>
        </p:nvSpPr>
        <p:spPr>
          <a:xfrm>
            <a:off x="822960" y="4160520"/>
            <a:ext cx="566928" cy="566928"/>
          </a:xfrm>
          <a:prstGeom prst="rect">
            <a:avLst/>
          </a:prstGeom>
          <a:noFill/>
          <a:ln/>
        </p:spPr>
        <p:txBody>
          <a:bodyPr wrap="square" lIns="0" tIns="0" rIns="0" bIns="0" rtlCol="0" anchor="ctr"/>
          <a:lstStyle/>
          <a:p>
            <a:pPr algn="ctr" indent="0" marL="0">
              <a:buNone/>
            </a:pPr>
            <a:r>
              <a:rPr lang="en-US" sz="1600" b="1" dirty="0">
                <a:solidFill>
                  <a:srgbClr val="00C2A8"/>
                </a:solidFill>
                <a:latin typeface="Cambria" pitchFamily="34" charset="0"/>
                <a:ea typeface="Cambria" pitchFamily="34" charset="-122"/>
                <a:cs typeface="Cambria" pitchFamily="34" charset="-120"/>
              </a:rPr>
              <a:t>07</a:t>
            </a:r>
            <a:endParaRPr lang="en-US" sz="1600" dirty="0"/>
          </a:p>
        </p:txBody>
      </p:sp>
      <p:sp>
        <p:nvSpPr>
          <p:cNvPr id="17" name="Text 15"/>
          <p:cNvSpPr/>
          <p:nvPr/>
        </p:nvSpPr>
        <p:spPr>
          <a:xfrm>
            <a:off x="1554480" y="4142232"/>
            <a:ext cx="4069080" cy="36576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Performance Evaluation</a:t>
            </a:r>
            <a:endParaRPr lang="en-US" sz="1500" dirty="0"/>
          </a:p>
        </p:txBody>
      </p:sp>
      <p:sp>
        <p:nvSpPr>
          <p:cNvPr id="18" name="Text 16"/>
          <p:cNvSpPr/>
          <p:nvPr/>
        </p:nvSpPr>
        <p:spPr>
          <a:xfrm>
            <a:off x="822960" y="4846320"/>
            <a:ext cx="4800600" cy="1005840"/>
          </a:xfrm>
          <a:prstGeom prst="rect">
            <a:avLst/>
          </a:prstGeom>
          <a:noFill/>
          <a:ln/>
        </p:spPr>
        <p:txBody>
          <a:bodyPr wrap="square" lIns="0" tIns="0" rIns="0" bIns="0" rtlCol="0" anchor="ctr"/>
          <a:lstStyle/>
          <a:p>
            <a:pPr indent="0" marL="0">
              <a:lnSpc>
                <a:spcPct val="120000"/>
              </a:lnSpc>
              <a:buNone/>
            </a:pPr>
            <a:r>
              <a:rPr lang="en-US" sz="1200" dirty="0">
                <a:solidFill>
                  <a:srgbClr val="1B1F3B"/>
                </a:solidFill>
                <a:latin typeface="Calibri" pitchFamily="34" charset="0"/>
                <a:ea typeface="Calibri" pitchFamily="34" charset="-122"/>
                <a:cs typeface="Calibri" pitchFamily="34" charset="-120"/>
              </a:rPr>
              <a:t>Assess image quality, data-hiding capacity, extraction accuracy, and computational simplicity.</a:t>
            </a:r>
            <a:endParaRPr lang="en-US" sz="1200" dirty="0"/>
          </a:p>
        </p:txBody>
      </p:sp>
      <p:sp>
        <p:nvSpPr>
          <p:cNvPr id="19" name="Shape 17"/>
          <p:cNvSpPr/>
          <p:nvPr/>
        </p:nvSpPr>
        <p:spPr>
          <a:xfrm>
            <a:off x="6263640" y="3886200"/>
            <a:ext cx="5349240" cy="2103120"/>
          </a:xfrm>
          <a:prstGeom prst="roundRect">
            <a:avLst>
              <a:gd name="adj" fmla="val 3478"/>
            </a:avLst>
          </a:prstGeom>
          <a:solidFill>
            <a:srgbClr val="F4F6FB"/>
          </a:solidFill>
          <a:ln w="12700">
            <a:solidFill>
              <a:srgbClr val="CADCFC"/>
            </a:solidFill>
            <a:prstDash val="solid"/>
          </a:ln>
        </p:spPr>
      </p:sp>
      <p:sp>
        <p:nvSpPr>
          <p:cNvPr id="20" name="Shape 18"/>
          <p:cNvSpPr/>
          <p:nvPr/>
        </p:nvSpPr>
        <p:spPr>
          <a:xfrm>
            <a:off x="6537960" y="4160520"/>
            <a:ext cx="566928" cy="566928"/>
          </a:xfrm>
          <a:prstGeom prst="ellipse">
            <a:avLst/>
          </a:prstGeom>
          <a:solidFill>
            <a:srgbClr val="1E2761"/>
          </a:solidFill>
          <a:ln/>
        </p:spPr>
      </p:sp>
      <p:sp>
        <p:nvSpPr>
          <p:cNvPr id="21" name="Text 19"/>
          <p:cNvSpPr/>
          <p:nvPr/>
        </p:nvSpPr>
        <p:spPr>
          <a:xfrm>
            <a:off x="6537960" y="4160520"/>
            <a:ext cx="566928" cy="566928"/>
          </a:xfrm>
          <a:prstGeom prst="rect">
            <a:avLst/>
          </a:prstGeom>
          <a:noFill/>
          <a:ln/>
        </p:spPr>
        <p:txBody>
          <a:bodyPr wrap="square" lIns="0" tIns="0" rIns="0" bIns="0" rtlCol="0" anchor="ctr"/>
          <a:lstStyle/>
          <a:p>
            <a:pPr algn="ctr" indent="0" marL="0">
              <a:buNone/>
            </a:pPr>
            <a:r>
              <a:rPr lang="en-US" sz="1600" b="1" dirty="0">
                <a:solidFill>
                  <a:srgbClr val="00C2A8"/>
                </a:solidFill>
                <a:latin typeface="Cambria" pitchFamily="34" charset="0"/>
                <a:ea typeface="Cambria" pitchFamily="34" charset="-122"/>
                <a:cs typeface="Cambria" pitchFamily="34" charset="-120"/>
              </a:rPr>
              <a:t>08</a:t>
            </a:r>
            <a:endParaRPr lang="en-US" sz="1600" dirty="0"/>
          </a:p>
        </p:txBody>
      </p:sp>
      <p:sp>
        <p:nvSpPr>
          <p:cNvPr id="22" name="Text 20"/>
          <p:cNvSpPr/>
          <p:nvPr/>
        </p:nvSpPr>
        <p:spPr>
          <a:xfrm>
            <a:off x="7269480" y="4142232"/>
            <a:ext cx="4069080" cy="36576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Secure Communication</a:t>
            </a:r>
            <a:endParaRPr lang="en-US" sz="1500" dirty="0"/>
          </a:p>
        </p:txBody>
      </p:sp>
      <p:sp>
        <p:nvSpPr>
          <p:cNvPr id="23" name="Text 21"/>
          <p:cNvSpPr/>
          <p:nvPr/>
        </p:nvSpPr>
        <p:spPr>
          <a:xfrm>
            <a:off x="6537960" y="4846320"/>
            <a:ext cx="4800600" cy="1005840"/>
          </a:xfrm>
          <a:prstGeom prst="rect">
            <a:avLst/>
          </a:prstGeom>
          <a:noFill/>
          <a:ln/>
        </p:spPr>
        <p:txBody>
          <a:bodyPr wrap="square" lIns="0" tIns="0" rIns="0" bIns="0" rtlCol="0" anchor="ctr"/>
          <a:lstStyle/>
          <a:p>
            <a:pPr indent="0" marL="0">
              <a:lnSpc>
                <a:spcPct val="120000"/>
              </a:lnSpc>
              <a:buNone/>
            </a:pPr>
            <a:r>
              <a:rPr lang="en-US" sz="1200" dirty="0">
                <a:solidFill>
                  <a:srgbClr val="1B1F3B"/>
                </a:solidFill>
                <a:latin typeface="Calibri" pitchFamily="34" charset="0"/>
                <a:ea typeface="Calibri" pitchFamily="34" charset="-122"/>
                <a:cs typeface="Calibri" pitchFamily="34" charset="-120"/>
              </a:rPr>
              <a:t>Demonstrate steganography's role in transmitting sensitive information without revealing its presence.</a:t>
            </a:r>
            <a:endParaRPr lang="en-US" sz="1200" dirty="0"/>
          </a:p>
        </p:txBody>
      </p:sp>
      <p:sp>
        <p:nvSpPr>
          <p:cNvPr id="24" name="Text 22"/>
          <p:cNvSpPr/>
          <p:nvPr/>
        </p:nvSpPr>
        <p:spPr>
          <a:xfrm>
            <a:off x="11475720" y="6473952"/>
            <a:ext cx="4572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48640" y="411480"/>
            <a:ext cx="9144000" cy="54864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How LSB Steganography Works</a:t>
            </a:r>
            <a:endParaRPr lang="en-US" sz="3000" dirty="0"/>
          </a:p>
        </p:txBody>
      </p:sp>
      <p:sp>
        <p:nvSpPr>
          <p:cNvPr id="3" name="Text 1"/>
          <p:cNvSpPr/>
          <p:nvPr/>
        </p:nvSpPr>
        <p:spPr>
          <a:xfrm>
            <a:off x="548640" y="932688"/>
            <a:ext cx="7315200" cy="365760"/>
          </a:xfrm>
          <a:prstGeom prst="rect">
            <a:avLst/>
          </a:prstGeom>
          <a:noFill/>
          <a:ln/>
        </p:spPr>
        <p:txBody>
          <a:bodyPr wrap="square" rtlCol="0" anchor="ctr"/>
          <a:lstStyle/>
          <a:p>
            <a:pPr indent="0" marL="0">
              <a:buNone/>
            </a:pPr>
            <a:r>
              <a:rPr lang="en-US" sz="1300" i="1" dirty="0">
                <a:solidFill>
                  <a:srgbClr val="CADCFC"/>
                </a:solidFill>
                <a:latin typeface="Calibri" pitchFamily="34" charset="0"/>
                <a:ea typeface="Calibri" pitchFamily="34" charset="-122"/>
                <a:cs typeface="Calibri" pitchFamily="34" charset="-120"/>
              </a:rPr>
              <a:t>Encoding pipeline: message to stego-image</a:t>
            </a:r>
            <a:endParaRPr lang="en-US" sz="1300" dirty="0"/>
          </a:p>
        </p:txBody>
      </p:sp>
      <p:sp>
        <p:nvSpPr>
          <p:cNvPr id="4" name="Shape 2"/>
          <p:cNvSpPr/>
          <p:nvPr/>
        </p:nvSpPr>
        <p:spPr>
          <a:xfrm>
            <a:off x="640080" y="1920240"/>
            <a:ext cx="2331720" cy="1554480"/>
          </a:xfrm>
          <a:prstGeom prst="roundRect">
            <a:avLst>
              <a:gd name="adj" fmla="val 5294"/>
            </a:avLst>
          </a:prstGeom>
          <a:solidFill>
            <a:srgbClr val="FFFFFF">
              <a:alpha val="6000"/>
            </a:srgbClr>
          </a:solidFill>
          <a:ln w="15875">
            <a:solidFill>
              <a:srgbClr val="CADCFC"/>
            </a:solidFill>
            <a:prstDash val="solid"/>
          </a:ln>
        </p:spPr>
      </p:sp>
      <p:sp>
        <p:nvSpPr>
          <p:cNvPr id="5" name="Text 3"/>
          <p:cNvSpPr/>
          <p:nvPr/>
        </p:nvSpPr>
        <p:spPr>
          <a:xfrm>
            <a:off x="640080" y="2084832"/>
            <a:ext cx="2331720" cy="6858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Secret</a:t>
            </a:r>
            <a:endParaRPr lang="en-US" sz="1400" dirty="0"/>
          </a:p>
          <a:p>
            <a:pPr algn="ctr" indent="0" marL="0">
              <a:buNone/>
            </a:pPr>
            <a:r>
              <a:rPr lang="en-US" sz="1400" b="1" dirty="0">
                <a:solidFill>
                  <a:srgbClr val="FFFFFF"/>
                </a:solidFill>
                <a:latin typeface="Calibri" pitchFamily="34" charset="0"/>
                <a:ea typeface="Calibri" pitchFamily="34" charset="-122"/>
                <a:cs typeface="Calibri" pitchFamily="34" charset="-120"/>
              </a:rPr>
              <a:t>Message</a:t>
            </a:r>
            <a:endParaRPr lang="en-US" sz="1400" dirty="0"/>
          </a:p>
        </p:txBody>
      </p:sp>
      <p:sp>
        <p:nvSpPr>
          <p:cNvPr id="6" name="Text 4"/>
          <p:cNvSpPr/>
          <p:nvPr/>
        </p:nvSpPr>
        <p:spPr>
          <a:xfrm>
            <a:off x="640080" y="2788920"/>
            <a:ext cx="2331720" cy="594360"/>
          </a:xfrm>
          <a:prstGeom prst="rect">
            <a:avLst/>
          </a:prstGeom>
          <a:noFill/>
          <a:ln/>
        </p:spPr>
        <p:txBody>
          <a:bodyPr wrap="square" lIns="0" tIns="0" rIns="0" bIns="0" rtlCol="0" anchor="ctr"/>
          <a:lstStyle/>
          <a:p>
            <a:pPr algn="ctr" indent="0" marL="0">
              <a:buNone/>
            </a:pPr>
            <a:r>
              <a:rPr lang="en-US" sz="1050" dirty="0">
                <a:solidFill>
                  <a:srgbClr val="CADCFC"/>
                </a:solidFill>
                <a:latin typeface="Courier New" pitchFamily="34" charset="0"/>
                <a:ea typeface="Courier New" pitchFamily="34" charset="-122"/>
                <a:cs typeface="Courier New" pitchFamily="34" charset="-120"/>
              </a:rPr>
              <a:t>"HELLO"</a:t>
            </a:r>
            <a:endParaRPr lang="en-US" sz="1050" dirty="0"/>
          </a:p>
        </p:txBody>
      </p:sp>
      <p:sp>
        <p:nvSpPr>
          <p:cNvPr id="7" name="Shape 5"/>
          <p:cNvSpPr/>
          <p:nvPr/>
        </p:nvSpPr>
        <p:spPr>
          <a:xfrm>
            <a:off x="2971800" y="2697480"/>
            <a:ext cx="457200" cy="0"/>
          </a:xfrm>
          <a:prstGeom prst="line">
            <a:avLst/>
          </a:prstGeom>
          <a:noFill/>
          <a:ln w="25400">
            <a:solidFill>
              <a:srgbClr val="00C2A8"/>
            </a:solidFill>
            <a:prstDash val="solid"/>
            <a:tailEnd type="triangle"/>
          </a:ln>
        </p:spPr>
      </p:sp>
      <p:sp>
        <p:nvSpPr>
          <p:cNvPr id="8" name="Shape 6"/>
          <p:cNvSpPr/>
          <p:nvPr/>
        </p:nvSpPr>
        <p:spPr>
          <a:xfrm>
            <a:off x="3429000" y="1920240"/>
            <a:ext cx="2331720" cy="1554480"/>
          </a:xfrm>
          <a:prstGeom prst="roundRect">
            <a:avLst>
              <a:gd name="adj" fmla="val 5294"/>
            </a:avLst>
          </a:prstGeom>
          <a:solidFill>
            <a:srgbClr val="FFFFFF">
              <a:alpha val="6000"/>
            </a:srgbClr>
          </a:solidFill>
          <a:ln w="15875">
            <a:solidFill>
              <a:srgbClr val="CADCFC"/>
            </a:solidFill>
            <a:prstDash val="solid"/>
          </a:ln>
        </p:spPr>
      </p:sp>
      <p:sp>
        <p:nvSpPr>
          <p:cNvPr id="9" name="Text 7"/>
          <p:cNvSpPr/>
          <p:nvPr/>
        </p:nvSpPr>
        <p:spPr>
          <a:xfrm>
            <a:off x="3429000" y="2084832"/>
            <a:ext cx="2331720" cy="6858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Convert to</a:t>
            </a:r>
            <a:endParaRPr lang="en-US" sz="1400" dirty="0"/>
          </a:p>
          <a:p>
            <a:pPr algn="ctr" indent="0" marL="0">
              <a:buNone/>
            </a:pPr>
            <a:r>
              <a:rPr lang="en-US" sz="1400" b="1" dirty="0">
                <a:solidFill>
                  <a:srgbClr val="FFFFFF"/>
                </a:solidFill>
                <a:latin typeface="Calibri" pitchFamily="34" charset="0"/>
                <a:ea typeface="Calibri" pitchFamily="34" charset="-122"/>
                <a:cs typeface="Calibri" pitchFamily="34" charset="-120"/>
              </a:rPr>
              <a:t>Binary</a:t>
            </a:r>
            <a:endParaRPr lang="en-US" sz="1400" dirty="0"/>
          </a:p>
        </p:txBody>
      </p:sp>
      <p:sp>
        <p:nvSpPr>
          <p:cNvPr id="10" name="Text 8"/>
          <p:cNvSpPr/>
          <p:nvPr/>
        </p:nvSpPr>
        <p:spPr>
          <a:xfrm>
            <a:off x="3429000" y="2788920"/>
            <a:ext cx="2331720" cy="594360"/>
          </a:xfrm>
          <a:prstGeom prst="rect">
            <a:avLst/>
          </a:prstGeom>
          <a:noFill/>
          <a:ln/>
        </p:spPr>
        <p:txBody>
          <a:bodyPr wrap="square" lIns="0" tIns="0" rIns="0" bIns="0" rtlCol="0" anchor="ctr"/>
          <a:lstStyle/>
          <a:p>
            <a:pPr algn="ctr" indent="0" marL="0">
              <a:buNone/>
            </a:pPr>
            <a:r>
              <a:rPr lang="en-US" sz="1050" dirty="0">
                <a:solidFill>
                  <a:srgbClr val="CADCFC"/>
                </a:solidFill>
                <a:latin typeface="Courier New" pitchFamily="34" charset="0"/>
                <a:ea typeface="Courier New" pitchFamily="34" charset="-122"/>
                <a:cs typeface="Courier New" pitchFamily="34" charset="-120"/>
              </a:rPr>
              <a:t>01001000</a:t>
            </a:r>
            <a:endParaRPr lang="en-US" sz="1050" dirty="0"/>
          </a:p>
          <a:p>
            <a:pPr algn="ctr" indent="0" marL="0">
              <a:buNone/>
            </a:pPr>
            <a:r>
              <a:rPr lang="en-US" sz="1050" dirty="0">
                <a:solidFill>
                  <a:srgbClr val="CADCFC"/>
                </a:solidFill>
                <a:latin typeface="Courier New" pitchFamily="34" charset="0"/>
                <a:ea typeface="Courier New" pitchFamily="34" charset="-122"/>
                <a:cs typeface="Courier New" pitchFamily="34" charset="-120"/>
              </a:rPr>
              <a:t>01000101 ...</a:t>
            </a:r>
            <a:endParaRPr lang="en-US" sz="1050" dirty="0"/>
          </a:p>
        </p:txBody>
      </p:sp>
      <p:sp>
        <p:nvSpPr>
          <p:cNvPr id="11" name="Shape 9"/>
          <p:cNvSpPr/>
          <p:nvPr/>
        </p:nvSpPr>
        <p:spPr>
          <a:xfrm>
            <a:off x="5760720" y="2697480"/>
            <a:ext cx="457200" cy="0"/>
          </a:xfrm>
          <a:prstGeom prst="line">
            <a:avLst/>
          </a:prstGeom>
          <a:noFill/>
          <a:ln w="25400">
            <a:solidFill>
              <a:srgbClr val="00C2A8"/>
            </a:solidFill>
            <a:prstDash val="solid"/>
            <a:tailEnd type="triangle"/>
          </a:ln>
        </p:spPr>
      </p:sp>
      <p:sp>
        <p:nvSpPr>
          <p:cNvPr id="12" name="Shape 10"/>
          <p:cNvSpPr/>
          <p:nvPr/>
        </p:nvSpPr>
        <p:spPr>
          <a:xfrm>
            <a:off x="6217920" y="1920240"/>
            <a:ext cx="2331720" cy="1554480"/>
          </a:xfrm>
          <a:prstGeom prst="roundRect">
            <a:avLst>
              <a:gd name="adj" fmla="val 5294"/>
            </a:avLst>
          </a:prstGeom>
          <a:solidFill>
            <a:srgbClr val="FFFFFF">
              <a:alpha val="6000"/>
            </a:srgbClr>
          </a:solidFill>
          <a:ln w="15875">
            <a:solidFill>
              <a:srgbClr val="CADCFC"/>
            </a:solidFill>
            <a:prstDash val="solid"/>
          </a:ln>
        </p:spPr>
      </p:sp>
      <p:sp>
        <p:nvSpPr>
          <p:cNvPr id="13" name="Text 11"/>
          <p:cNvSpPr/>
          <p:nvPr/>
        </p:nvSpPr>
        <p:spPr>
          <a:xfrm>
            <a:off x="6217920" y="2084832"/>
            <a:ext cx="2331720" cy="6858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Embed in LSBs</a:t>
            </a:r>
            <a:endParaRPr lang="en-US" sz="1400" dirty="0"/>
          </a:p>
          <a:p>
            <a:pPr algn="ctr" indent="0" marL="0">
              <a:buNone/>
            </a:pPr>
            <a:r>
              <a:rPr lang="en-US" sz="1400" b="1" dirty="0">
                <a:solidFill>
                  <a:srgbClr val="FFFFFF"/>
                </a:solidFill>
                <a:latin typeface="Calibri" pitchFamily="34" charset="0"/>
                <a:ea typeface="Calibri" pitchFamily="34" charset="-122"/>
                <a:cs typeface="Calibri" pitchFamily="34" charset="-120"/>
              </a:rPr>
              <a:t>of Pixels</a:t>
            </a:r>
            <a:endParaRPr lang="en-US" sz="1400" dirty="0"/>
          </a:p>
        </p:txBody>
      </p:sp>
      <p:sp>
        <p:nvSpPr>
          <p:cNvPr id="14" name="Text 12"/>
          <p:cNvSpPr/>
          <p:nvPr/>
        </p:nvSpPr>
        <p:spPr>
          <a:xfrm>
            <a:off x="6217920" y="2788920"/>
            <a:ext cx="2331720" cy="594360"/>
          </a:xfrm>
          <a:prstGeom prst="rect">
            <a:avLst/>
          </a:prstGeom>
          <a:noFill/>
          <a:ln/>
        </p:spPr>
        <p:txBody>
          <a:bodyPr wrap="square" lIns="0" tIns="0" rIns="0" bIns="0" rtlCol="0" anchor="ctr"/>
          <a:lstStyle/>
          <a:p>
            <a:pPr algn="ctr" indent="0" marL="0">
              <a:buNone/>
            </a:pPr>
            <a:r>
              <a:rPr lang="en-US" sz="1050" dirty="0">
                <a:solidFill>
                  <a:srgbClr val="CADCFC"/>
                </a:solidFill>
                <a:latin typeface="Courier New" pitchFamily="34" charset="0"/>
                <a:ea typeface="Courier New" pitchFamily="34" charset="-122"/>
                <a:cs typeface="Courier New" pitchFamily="34" charset="-120"/>
              </a:rPr>
              <a:t>+ delimiter</a:t>
            </a:r>
            <a:endParaRPr lang="en-US" sz="1050" dirty="0"/>
          </a:p>
        </p:txBody>
      </p:sp>
      <p:sp>
        <p:nvSpPr>
          <p:cNvPr id="15" name="Shape 13"/>
          <p:cNvSpPr/>
          <p:nvPr/>
        </p:nvSpPr>
        <p:spPr>
          <a:xfrm>
            <a:off x="8549640" y="2697480"/>
            <a:ext cx="457200" cy="0"/>
          </a:xfrm>
          <a:prstGeom prst="line">
            <a:avLst/>
          </a:prstGeom>
          <a:noFill/>
          <a:ln w="25400">
            <a:solidFill>
              <a:srgbClr val="00C2A8"/>
            </a:solidFill>
            <a:prstDash val="solid"/>
            <a:tailEnd type="triangle"/>
          </a:ln>
        </p:spPr>
      </p:sp>
      <p:sp>
        <p:nvSpPr>
          <p:cNvPr id="16" name="Shape 14"/>
          <p:cNvSpPr/>
          <p:nvPr/>
        </p:nvSpPr>
        <p:spPr>
          <a:xfrm>
            <a:off x="9006840" y="1920240"/>
            <a:ext cx="2331720" cy="1554480"/>
          </a:xfrm>
          <a:prstGeom prst="roundRect">
            <a:avLst>
              <a:gd name="adj" fmla="val 5294"/>
            </a:avLst>
          </a:prstGeom>
          <a:solidFill>
            <a:srgbClr val="00C2A8"/>
          </a:solidFill>
          <a:ln w="15875">
            <a:solidFill>
              <a:srgbClr val="00C2A8"/>
            </a:solidFill>
            <a:prstDash val="solid"/>
          </a:ln>
        </p:spPr>
      </p:sp>
      <p:sp>
        <p:nvSpPr>
          <p:cNvPr id="17" name="Text 15"/>
          <p:cNvSpPr/>
          <p:nvPr/>
        </p:nvSpPr>
        <p:spPr>
          <a:xfrm>
            <a:off x="9006840" y="2084832"/>
            <a:ext cx="2331720" cy="685800"/>
          </a:xfrm>
          <a:prstGeom prst="rect">
            <a:avLst/>
          </a:prstGeom>
          <a:noFill/>
          <a:ln/>
        </p:spPr>
        <p:txBody>
          <a:bodyPr wrap="square" lIns="0" tIns="0" rIns="0" bIns="0"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Stego-Image</a:t>
            </a:r>
            <a:endParaRPr lang="en-US" sz="1400" dirty="0"/>
          </a:p>
          <a:p>
            <a:pPr algn="ctr" indent="0" marL="0">
              <a:buNone/>
            </a:pPr>
            <a:r>
              <a:rPr lang="en-US" sz="1400" b="1" dirty="0">
                <a:solidFill>
                  <a:srgbClr val="1E2761"/>
                </a:solidFill>
                <a:latin typeface="Calibri" pitchFamily="34" charset="0"/>
                <a:ea typeface="Calibri" pitchFamily="34" charset="-122"/>
                <a:cs typeface="Calibri" pitchFamily="34" charset="-120"/>
              </a:rPr>
              <a:t>Output</a:t>
            </a:r>
            <a:endParaRPr lang="en-US" sz="1400" dirty="0"/>
          </a:p>
        </p:txBody>
      </p:sp>
      <p:sp>
        <p:nvSpPr>
          <p:cNvPr id="18" name="Text 16"/>
          <p:cNvSpPr/>
          <p:nvPr/>
        </p:nvSpPr>
        <p:spPr>
          <a:xfrm>
            <a:off x="9006840" y="2788920"/>
            <a:ext cx="2331720" cy="594360"/>
          </a:xfrm>
          <a:prstGeom prst="rect">
            <a:avLst/>
          </a:prstGeom>
          <a:noFill/>
          <a:ln/>
        </p:spPr>
        <p:txBody>
          <a:bodyPr wrap="square" lIns="0" tIns="0" rIns="0" bIns="0" rtlCol="0" anchor="ctr"/>
          <a:lstStyle/>
          <a:p>
            <a:pPr algn="ctr" indent="0" marL="0">
              <a:buNone/>
            </a:pPr>
            <a:r>
              <a:rPr lang="en-US" sz="1050" dirty="0">
                <a:solidFill>
                  <a:srgbClr val="1E2761"/>
                </a:solidFill>
                <a:latin typeface="Courier New" pitchFamily="34" charset="0"/>
                <a:ea typeface="Courier New" pitchFamily="34" charset="-122"/>
                <a:cs typeface="Courier New" pitchFamily="34" charset="-120"/>
              </a:rPr>
              <a:t>looks identical</a:t>
            </a:r>
            <a:endParaRPr lang="en-US" sz="1050" dirty="0"/>
          </a:p>
        </p:txBody>
      </p:sp>
      <p:sp>
        <p:nvSpPr>
          <p:cNvPr id="19" name="Shape 17"/>
          <p:cNvSpPr/>
          <p:nvPr/>
        </p:nvSpPr>
        <p:spPr>
          <a:xfrm>
            <a:off x="640080" y="3977640"/>
            <a:ext cx="10881360" cy="2148840"/>
          </a:xfrm>
          <a:prstGeom prst="roundRect">
            <a:avLst>
              <a:gd name="adj" fmla="val 4255"/>
            </a:avLst>
          </a:prstGeom>
          <a:solidFill>
            <a:srgbClr val="FFFFFF">
              <a:alpha val="7000"/>
            </a:srgbClr>
          </a:solidFill>
          <a:ln w="12700">
            <a:solidFill>
              <a:srgbClr val="CADCFC"/>
            </a:solidFill>
            <a:prstDash val="solid"/>
          </a:ln>
        </p:spPr>
      </p:sp>
      <p:sp>
        <p:nvSpPr>
          <p:cNvPr id="20" name="Text 18"/>
          <p:cNvSpPr/>
          <p:nvPr/>
        </p:nvSpPr>
        <p:spPr>
          <a:xfrm>
            <a:off x="914400" y="4187952"/>
            <a:ext cx="7315200" cy="365760"/>
          </a:xfrm>
          <a:prstGeom prst="rect">
            <a:avLst/>
          </a:prstGeom>
          <a:noFill/>
          <a:ln/>
        </p:spPr>
        <p:txBody>
          <a:bodyPr wrap="square" rtlCol="0" anchor="ctr"/>
          <a:lstStyle/>
          <a:p>
            <a:pPr indent="0" marL="0">
              <a:buNone/>
            </a:pPr>
            <a:r>
              <a:rPr lang="en-US" sz="1400" b="1" dirty="0">
                <a:solidFill>
                  <a:srgbClr val="00C2A8"/>
                </a:solidFill>
                <a:latin typeface="Calibri" pitchFamily="34" charset="0"/>
                <a:ea typeface="Calibri" pitchFamily="34" charset="-122"/>
                <a:cs typeface="Calibri" pitchFamily="34" charset="-120"/>
              </a:rPr>
              <a:t>The Core Principle</a:t>
            </a:r>
            <a:endParaRPr lang="en-US" sz="1400" dirty="0"/>
          </a:p>
        </p:txBody>
      </p:sp>
      <p:sp>
        <p:nvSpPr>
          <p:cNvPr id="21" name="Text 19"/>
          <p:cNvSpPr/>
          <p:nvPr/>
        </p:nvSpPr>
        <p:spPr>
          <a:xfrm>
            <a:off x="914400" y="4590288"/>
            <a:ext cx="10332720" cy="1417320"/>
          </a:xfrm>
          <a:prstGeom prst="rect">
            <a:avLst/>
          </a:prstGeom>
          <a:noFill/>
          <a:ln/>
        </p:spPr>
        <p:txBody>
          <a:bodyPr wrap="square" rtlCol="0" anchor="ctr"/>
          <a:lstStyle/>
          <a:p>
            <a:pPr indent="0" marL="0">
              <a:lnSpc>
                <a:spcPct val="125000"/>
              </a:lnSpc>
              <a:buNone/>
            </a:pPr>
            <a:r>
              <a:rPr lang="en-US" sz="1300" dirty="0">
                <a:solidFill>
                  <a:srgbClr val="CADCFC"/>
                </a:solidFill>
                <a:latin typeface="Calibri" pitchFamily="34" charset="0"/>
                <a:ea typeface="Calibri" pitchFamily="34" charset="-122"/>
                <a:cs typeface="Calibri" pitchFamily="34" charset="-120"/>
              </a:rPr>
              <a:t>Each pixel's color value is stored as an 8-bit binary number. Changing only the last (least significant) bit alters the pixel's intensity by at most 1 out of 256 levels — a change far too small for the human eye to detect. By replacing these bits one by one with the bits of the secret message, data can be hidden throughout the image while it remains visually unchanged. A special delimiter sequence is embedded after the message so the decoder knows exactly where the hidden data ends.</a:t>
            </a:r>
            <a:endParaRPr lang="en-US" sz="1300" dirty="0"/>
          </a:p>
        </p:txBody>
      </p:sp>
      <p:sp>
        <p:nvSpPr>
          <p:cNvPr id="22" name="Text 20"/>
          <p:cNvSpPr/>
          <p:nvPr/>
        </p:nvSpPr>
        <p:spPr>
          <a:xfrm>
            <a:off x="11475720" y="6473952"/>
            <a:ext cx="4572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548640"/>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System Architecture</a:t>
            </a:r>
            <a:endParaRPr lang="en-US" sz="3200" dirty="0"/>
          </a:p>
        </p:txBody>
      </p:sp>
      <p:sp>
        <p:nvSpPr>
          <p:cNvPr id="3" name="Shape 1"/>
          <p:cNvSpPr/>
          <p:nvPr/>
        </p:nvSpPr>
        <p:spPr>
          <a:xfrm>
            <a:off x="566928" y="960120"/>
            <a:ext cx="457200" cy="73152"/>
          </a:xfrm>
          <a:prstGeom prst="roundRect">
            <a:avLst>
              <a:gd name="adj" fmla="val 50000"/>
            </a:avLst>
          </a:prstGeom>
          <a:solidFill>
            <a:srgbClr val="00C2A8"/>
          </a:solidFill>
          <a:ln/>
        </p:spPr>
      </p:sp>
      <p:sp>
        <p:nvSpPr>
          <p:cNvPr id="4" name="Shape 2"/>
          <p:cNvSpPr/>
          <p:nvPr/>
        </p:nvSpPr>
        <p:spPr>
          <a:xfrm>
            <a:off x="548640" y="1371600"/>
            <a:ext cx="5349240" cy="4846320"/>
          </a:xfrm>
          <a:prstGeom prst="roundRect">
            <a:avLst>
              <a:gd name="adj" fmla="val 1887"/>
            </a:avLst>
          </a:prstGeom>
          <a:solidFill>
            <a:srgbClr val="F4F6FB"/>
          </a:solidFill>
          <a:ln w="12700">
            <a:solidFill>
              <a:srgbClr val="CADCFC"/>
            </a:solidFill>
            <a:prstDash val="solid"/>
          </a:ln>
        </p:spPr>
      </p:sp>
      <p:sp>
        <p:nvSpPr>
          <p:cNvPr id="5" name="Shape 3"/>
          <p:cNvSpPr/>
          <p:nvPr/>
        </p:nvSpPr>
        <p:spPr>
          <a:xfrm>
            <a:off x="868680" y="1645920"/>
            <a:ext cx="502920" cy="502920"/>
          </a:xfrm>
          <a:prstGeom prst="ellipse">
            <a:avLst/>
          </a:prstGeom>
          <a:solidFill>
            <a:srgbClr val="1E2761"/>
          </a:solidFill>
          <a:ln/>
        </p:spPr>
      </p:sp>
      <p:sp>
        <p:nvSpPr>
          <p:cNvPr id="6" name="Text 4"/>
          <p:cNvSpPr/>
          <p:nvPr/>
        </p:nvSpPr>
        <p:spPr>
          <a:xfrm>
            <a:off x="868680" y="1645920"/>
            <a:ext cx="502920" cy="502920"/>
          </a:xfrm>
          <a:prstGeom prst="rect">
            <a:avLst/>
          </a:prstGeom>
          <a:noFill/>
          <a:ln/>
        </p:spPr>
        <p:txBody>
          <a:bodyPr wrap="square" lIns="0" tIns="0" rIns="0" bIns="0" rtlCol="0" anchor="ctr"/>
          <a:lstStyle/>
          <a:p>
            <a:pPr algn="ctr" indent="0" marL="0">
              <a:buNone/>
            </a:pPr>
            <a:r>
              <a:rPr lang="en-US" sz="1800" b="1" dirty="0">
                <a:solidFill>
                  <a:srgbClr val="00C2A8"/>
                </a:solidFill>
                <a:latin typeface="Cambria" pitchFamily="34" charset="0"/>
                <a:ea typeface="Cambria" pitchFamily="34" charset="-122"/>
                <a:cs typeface="Cambria" pitchFamily="34" charset="-120"/>
              </a:rPr>
              <a:t>E</a:t>
            </a:r>
            <a:endParaRPr lang="en-US" sz="1800" dirty="0"/>
          </a:p>
        </p:txBody>
      </p:sp>
      <p:sp>
        <p:nvSpPr>
          <p:cNvPr id="7" name="Text 5"/>
          <p:cNvSpPr/>
          <p:nvPr/>
        </p:nvSpPr>
        <p:spPr>
          <a:xfrm>
            <a:off x="1508760" y="1664208"/>
            <a:ext cx="3657600" cy="457200"/>
          </a:xfrm>
          <a:prstGeom prst="rect">
            <a:avLst/>
          </a:prstGeom>
          <a:noFill/>
          <a:ln/>
        </p:spPr>
        <p:txBody>
          <a:bodyPr wrap="square" lIns="0" tIns="0" rIns="0" bIns="0" rtlCol="0" anchor="ctr"/>
          <a:lstStyle/>
          <a:p>
            <a:pPr indent="0" marL="0">
              <a:buNone/>
            </a:pPr>
            <a:r>
              <a:rPr lang="en-US" sz="1800" b="1" dirty="0">
                <a:solidFill>
                  <a:srgbClr val="1E2761"/>
                </a:solidFill>
                <a:latin typeface="Calibri" pitchFamily="34" charset="0"/>
                <a:ea typeface="Calibri" pitchFamily="34" charset="-122"/>
                <a:cs typeface="Calibri" pitchFamily="34" charset="-120"/>
              </a:rPr>
              <a:t>Encoder</a:t>
            </a:r>
            <a:endParaRPr lang="en-US" sz="1800" dirty="0"/>
          </a:p>
        </p:txBody>
      </p:sp>
      <p:sp>
        <p:nvSpPr>
          <p:cNvPr id="8" name="Shape 6"/>
          <p:cNvSpPr/>
          <p:nvPr/>
        </p:nvSpPr>
        <p:spPr>
          <a:xfrm>
            <a:off x="868680" y="2377440"/>
            <a:ext cx="292608" cy="292608"/>
          </a:xfrm>
          <a:prstGeom prst="ellipse">
            <a:avLst/>
          </a:prstGeom>
          <a:solidFill>
            <a:srgbClr val="00C2A8"/>
          </a:solidFill>
          <a:ln/>
        </p:spPr>
      </p:sp>
      <p:sp>
        <p:nvSpPr>
          <p:cNvPr id="9" name="Text 7"/>
          <p:cNvSpPr/>
          <p:nvPr/>
        </p:nvSpPr>
        <p:spPr>
          <a:xfrm>
            <a:off x="868680" y="2377440"/>
            <a:ext cx="292608" cy="292608"/>
          </a:xfrm>
          <a:prstGeom prst="rect">
            <a:avLst/>
          </a:prstGeom>
          <a:noFill/>
          <a:ln/>
        </p:spPr>
        <p:txBody>
          <a:bodyPr wrap="square" lIns="0" tIns="0" rIns="0" bIns="0" rtlCol="0" anchor="ctr"/>
          <a:lstStyle/>
          <a:p>
            <a:pPr algn="ctr" indent="0" marL="0">
              <a:buNone/>
            </a:pPr>
            <a:r>
              <a:rPr lang="en-US" sz="1100" b="1" dirty="0">
                <a:solidFill>
                  <a:srgbClr val="1E2761"/>
                </a:solidFill>
                <a:latin typeface="Calibri" pitchFamily="34" charset="0"/>
                <a:ea typeface="Calibri" pitchFamily="34" charset="-122"/>
                <a:cs typeface="Calibri" pitchFamily="34" charset="-120"/>
              </a:rPr>
              <a:t>1</a:t>
            </a:r>
            <a:endParaRPr lang="en-US" sz="1100" dirty="0"/>
          </a:p>
        </p:txBody>
      </p:sp>
      <p:sp>
        <p:nvSpPr>
          <p:cNvPr id="10" name="Text 8"/>
          <p:cNvSpPr/>
          <p:nvPr/>
        </p:nvSpPr>
        <p:spPr>
          <a:xfrm>
            <a:off x="1325880" y="2322576"/>
            <a:ext cx="4251960" cy="502920"/>
          </a:xfrm>
          <a:prstGeom prst="rect">
            <a:avLst/>
          </a:prstGeom>
          <a:noFill/>
          <a:ln/>
        </p:spPr>
        <p:txBody>
          <a:bodyPr wrap="square" lIns="0" tIns="0" rIns="0" bIns="0" rtlCol="0" anchor="ctr"/>
          <a:lstStyle/>
          <a:p>
            <a:pPr indent="0" marL="0">
              <a:buNone/>
            </a:pPr>
            <a:r>
              <a:rPr lang="en-US" sz="1250" dirty="0">
                <a:solidFill>
                  <a:srgbClr val="1B1F3B"/>
                </a:solidFill>
                <a:latin typeface="Calibri" pitchFamily="34" charset="0"/>
                <a:ea typeface="Calibri" pitchFamily="34" charset="-122"/>
                <a:cs typeface="Calibri" pitchFamily="34" charset="-120"/>
              </a:rPr>
              <a:t>Read cover image and secret message</a:t>
            </a:r>
            <a:endParaRPr lang="en-US" sz="1250" dirty="0"/>
          </a:p>
        </p:txBody>
      </p:sp>
      <p:sp>
        <p:nvSpPr>
          <p:cNvPr id="11" name="Shape 9"/>
          <p:cNvSpPr/>
          <p:nvPr/>
        </p:nvSpPr>
        <p:spPr>
          <a:xfrm>
            <a:off x="868680" y="3090672"/>
            <a:ext cx="292608" cy="292608"/>
          </a:xfrm>
          <a:prstGeom prst="ellipse">
            <a:avLst/>
          </a:prstGeom>
          <a:solidFill>
            <a:srgbClr val="00C2A8"/>
          </a:solidFill>
          <a:ln/>
        </p:spPr>
      </p:sp>
      <p:sp>
        <p:nvSpPr>
          <p:cNvPr id="12" name="Text 10"/>
          <p:cNvSpPr/>
          <p:nvPr/>
        </p:nvSpPr>
        <p:spPr>
          <a:xfrm>
            <a:off x="868680" y="3090672"/>
            <a:ext cx="292608" cy="292608"/>
          </a:xfrm>
          <a:prstGeom prst="rect">
            <a:avLst/>
          </a:prstGeom>
          <a:noFill/>
          <a:ln/>
        </p:spPr>
        <p:txBody>
          <a:bodyPr wrap="square" lIns="0" tIns="0" rIns="0" bIns="0" rtlCol="0" anchor="ctr"/>
          <a:lstStyle/>
          <a:p>
            <a:pPr algn="ctr" indent="0" marL="0">
              <a:buNone/>
            </a:pPr>
            <a:r>
              <a:rPr lang="en-US" sz="1100" b="1" dirty="0">
                <a:solidFill>
                  <a:srgbClr val="1E2761"/>
                </a:solidFill>
                <a:latin typeface="Calibri" pitchFamily="34" charset="0"/>
                <a:ea typeface="Calibri" pitchFamily="34" charset="-122"/>
                <a:cs typeface="Calibri" pitchFamily="34" charset="-120"/>
              </a:rPr>
              <a:t>2</a:t>
            </a:r>
            <a:endParaRPr lang="en-US" sz="1100" dirty="0"/>
          </a:p>
        </p:txBody>
      </p:sp>
      <p:sp>
        <p:nvSpPr>
          <p:cNvPr id="13" name="Text 11"/>
          <p:cNvSpPr/>
          <p:nvPr/>
        </p:nvSpPr>
        <p:spPr>
          <a:xfrm>
            <a:off x="1325880" y="3035808"/>
            <a:ext cx="4251960" cy="502920"/>
          </a:xfrm>
          <a:prstGeom prst="rect">
            <a:avLst/>
          </a:prstGeom>
          <a:noFill/>
          <a:ln/>
        </p:spPr>
        <p:txBody>
          <a:bodyPr wrap="square" lIns="0" tIns="0" rIns="0" bIns="0" rtlCol="0" anchor="ctr"/>
          <a:lstStyle/>
          <a:p>
            <a:pPr indent="0" marL="0">
              <a:buNone/>
            </a:pPr>
            <a:r>
              <a:rPr lang="en-US" sz="1250" dirty="0">
                <a:solidFill>
                  <a:srgbClr val="1B1F3B"/>
                </a:solidFill>
                <a:latin typeface="Calibri" pitchFamily="34" charset="0"/>
                <a:ea typeface="Calibri" pitchFamily="34" charset="-122"/>
                <a:cs typeface="Calibri" pitchFamily="34" charset="-120"/>
              </a:rPr>
              <a:t>Convert message text to binary</a:t>
            </a:r>
            <a:endParaRPr lang="en-US" sz="1250" dirty="0"/>
          </a:p>
        </p:txBody>
      </p:sp>
      <p:sp>
        <p:nvSpPr>
          <p:cNvPr id="14" name="Shape 12"/>
          <p:cNvSpPr/>
          <p:nvPr/>
        </p:nvSpPr>
        <p:spPr>
          <a:xfrm>
            <a:off x="868680" y="3803904"/>
            <a:ext cx="292608" cy="292608"/>
          </a:xfrm>
          <a:prstGeom prst="ellipse">
            <a:avLst/>
          </a:prstGeom>
          <a:solidFill>
            <a:srgbClr val="00C2A8"/>
          </a:solidFill>
          <a:ln/>
        </p:spPr>
      </p:sp>
      <p:sp>
        <p:nvSpPr>
          <p:cNvPr id="15" name="Text 13"/>
          <p:cNvSpPr/>
          <p:nvPr/>
        </p:nvSpPr>
        <p:spPr>
          <a:xfrm>
            <a:off x="868680" y="3803904"/>
            <a:ext cx="292608" cy="292608"/>
          </a:xfrm>
          <a:prstGeom prst="rect">
            <a:avLst/>
          </a:prstGeom>
          <a:noFill/>
          <a:ln/>
        </p:spPr>
        <p:txBody>
          <a:bodyPr wrap="square" lIns="0" tIns="0" rIns="0" bIns="0" rtlCol="0" anchor="ctr"/>
          <a:lstStyle/>
          <a:p>
            <a:pPr algn="ctr" indent="0" marL="0">
              <a:buNone/>
            </a:pPr>
            <a:r>
              <a:rPr lang="en-US" sz="1100" b="1" dirty="0">
                <a:solidFill>
                  <a:srgbClr val="1E2761"/>
                </a:solidFill>
                <a:latin typeface="Calibri" pitchFamily="34" charset="0"/>
                <a:ea typeface="Calibri" pitchFamily="34" charset="-122"/>
                <a:cs typeface="Calibri" pitchFamily="34" charset="-120"/>
              </a:rPr>
              <a:t>3</a:t>
            </a:r>
            <a:endParaRPr lang="en-US" sz="1100" dirty="0"/>
          </a:p>
        </p:txBody>
      </p:sp>
      <p:sp>
        <p:nvSpPr>
          <p:cNvPr id="16" name="Text 14"/>
          <p:cNvSpPr/>
          <p:nvPr/>
        </p:nvSpPr>
        <p:spPr>
          <a:xfrm>
            <a:off x="1325880" y="3749040"/>
            <a:ext cx="4251960" cy="502920"/>
          </a:xfrm>
          <a:prstGeom prst="rect">
            <a:avLst/>
          </a:prstGeom>
          <a:noFill/>
          <a:ln/>
        </p:spPr>
        <p:txBody>
          <a:bodyPr wrap="square" lIns="0" tIns="0" rIns="0" bIns="0" rtlCol="0" anchor="ctr"/>
          <a:lstStyle/>
          <a:p>
            <a:pPr indent="0" marL="0">
              <a:buNone/>
            </a:pPr>
            <a:r>
              <a:rPr lang="en-US" sz="1250" dirty="0">
                <a:solidFill>
                  <a:srgbClr val="1B1F3B"/>
                </a:solidFill>
                <a:latin typeface="Calibri" pitchFamily="34" charset="0"/>
                <a:ea typeface="Calibri" pitchFamily="34" charset="-122"/>
                <a:cs typeface="Calibri" pitchFamily="34" charset="-120"/>
              </a:rPr>
              <a:t>Append end-of-message delimiter</a:t>
            </a:r>
            <a:endParaRPr lang="en-US" sz="1250" dirty="0"/>
          </a:p>
        </p:txBody>
      </p:sp>
      <p:sp>
        <p:nvSpPr>
          <p:cNvPr id="17" name="Shape 15"/>
          <p:cNvSpPr/>
          <p:nvPr/>
        </p:nvSpPr>
        <p:spPr>
          <a:xfrm>
            <a:off x="868680" y="4517136"/>
            <a:ext cx="292608" cy="292608"/>
          </a:xfrm>
          <a:prstGeom prst="ellipse">
            <a:avLst/>
          </a:prstGeom>
          <a:solidFill>
            <a:srgbClr val="00C2A8"/>
          </a:solidFill>
          <a:ln/>
        </p:spPr>
      </p:sp>
      <p:sp>
        <p:nvSpPr>
          <p:cNvPr id="18" name="Text 16"/>
          <p:cNvSpPr/>
          <p:nvPr/>
        </p:nvSpPr>
        <p:spPr>
          <a:xfrm>
            <a:off x="868680" y="4517136"/>
            <a:ext cx="292608" cy="292608"/>
          </a:xfrm>
          <a:prstGeom prst="rect">
            <a:avLst/>
          </a:prstGeom>
          <a:noFill/>
          <a:ln/>
        </p:spPr>
        <p:txBody>
          <a:bodyPr wrap="square" lIns="0" tIns="0" rIns="0" bIns="0" rtlCol="0" anchor="ctr"/>
          <a:lstStyle/>
          <a:p>
            <a:pPr algn="ctr" indent="0" marL="0">
              <a:buNone/>
            </a:pPr>
            <a:r>
              <a:rPr lang="en-US" sz="1100" b="1" dirty="0">
                <a:solidFill>
                  <a:srgbClr val="1E2761"/>
                </a:solidFill>
                <a:latin typeface="Calibri" pitchFamily="34" charset="0"/>
                <a:ea typeface="Calibri" pitchFamily="34" charset="-122"/>
                <a:cs typeface="Calibri" pitchFamily="34" charset="-120"/>
              </a:rPr>
              <a:t>4</a:t>
            </a:r>
            <a:endParaRPr lang="en-US" sz="1100" dirty="0"/>
          </a:p>
        </p:txBody>
      </p:sp>
      <p:sp>
        <p:nvSpPr>
          <p:cNvPr id="19" name="Text 17"/>
          <p:cNvSpPr/>
          <p:nvPr/>
        </p:nvSpPr>
        <p:spPr>
          <a:xfrm>
            <a:off x="1325880" y="4462272"/>
            <a:ext cx="4251960" cy="502920"/>
          </a:xfrm>
          <a:prstGeom prst="rect">
            <a:avLst/>
          </a:prstGeom>
          <a:noFill/>
          <a:ln/>
        </p:spPr>
        <p:txBody>
          <a:bodyPr wrap="square" lIns="0" tIns="0" rIns="0" bIns="0" rtlCol="0" anchor="ctr"/>
          <a:lstStyle/>
          <a:p>
            <a:pPr indent="0" marL="0">
              <a:buNone/>
            </a:pPr>
            <a:r>
              <a:rPr lang="en-US" sz="1250" dirty="0">
                <a:solidFill>
                  <a:srgbClr val="1B1F3B"/>
                </a:solidFill>
                <a:latin typeface="Calibri" pitchFamily="34" charset="0"/>
                <a:ea typeface="Calibri" pitchFamily="34" charset="-122"/>
                <a:cs typeface="Calibri" pitchFamily="34" charset="-120"/>
              </a:rPr>
              <a:t>Replace LSBs of pixel bytes sequentially</a:t>
            </a:r>
            <a:endParaRPr lang="en-US" sz="1250" dirty="0"/>
          </a:p>
        </p:txBody>
      </p:sp>
      <p:sp>
        <p:nvSpPr>
          <p:cNvPr id="20" name="Shape 18"/>
          <p:cNvSpPr/>
          <p:nvPr/>
        </p:nvSpPr>
        <p:spPr>
          <a:xfrm>
            <a:off x="868680" y="5230368"/>
            <a:ext cx="292608" cy="292608"/>
          </a:xfrm>
          <a:prstGeom prst="ellipse">
            <a:avLst/>
          </a:prstGeom>
          <a:solidFill>
            <a:srgbClr val="00C2A8"/>
          </a:solidFill>
          <a:ln/>
        </p:spPr>
      </p:sp>
      <p:sp>
        <p:nvSpPr>
          <p:cNvPr id="21" name="Text 19"/>
          <p:cNvSpPr/>
          <p:nvPr/>
        </p:nvSpPr>
        <p:spPr>
          <a:xfrm>
            <a:off x="868680" y="5230368"/>
            <a:ext cx="292608" cy="292608"/>
          </a:xfrm>
          <a:prstGeom prst="rect">
            <a:avLst/>
          </a:prstGeom>
          <a:noFill/>
          <a:ln/>
        </p:spPr>
        <p:txBody>
          <a:bodyPr wrap="square" lIns="0" tIns="0" rIns="0" bIns="0" rtlCol="0" anchor="ctr"/>
          <a:lstStyle/>
          <a:p>
            <a:pPr algn="ctr" indent="0" marL="0">
              <a:buNone/>
            </a:pPr>
            <a:r>
              <a:rPr lang="en-US" sz="1100" b="1" dirty="0">
                <a:solidFill>
                  <a:srgbClr val="1E2761"/>
                </a:solidFill>
                <a:latin typeface="Calibri" pitchFamily="34" charset="0"/>
                <a:ea typeface="Calibri" pitchFamily="34" charset="-122"/>
                <a:cs typeface="Calibri" pitchFamily="34" charset="-120"/>
              </a:rPr>
              <a:t>5</a:t>
            </a:r>
            <a:endParaRPr lang="en-US" sz="1100" dirty="0"/>
          </a:p>
        </p:txBody>
      </p:sp>
      <p:sp>
        <p:nvSpPr>
          <p:cNvPr id="22" name="Text 20"/>
          <p:cNvSpPr/>
          <p:nvPr/>
        </p:nvSpPr>
        <p:spPr>
          <a:xfrm>
            <a:off x="1325880" y="5175504"/>
            <a:ext cx="4251960" cy="502920"/>
          </a:xfrm>
          <a:prstGeom prst="rect">
            <a:avLst/>
          </a:prstGeom>
          <a:noFill/>
          <a:ln/>
        </p:spPr>
        <p:txBody>
          <a:bodyPr wrap="square" lIns="0" tIns="0" rIns="0" bIns="0" rtlCol="0" anchor="ctr"/>
          <a:lstStyle/>
          <a:p>
            <a:pPr indent="0" marL="0">
              <a:buNone/>
            </a:pPr>
            <a:r>
              <a:rPr lang="en-US" sz="1250" dirty="0">
                <a:solidFill>
                  <a:srgbClr val="1B1F3B"/>
                </a:solidFill>
                <a:latin typeface="Calibri" pitchFamily="34" charset="0"/>
                <a:ea typeface="Calibri" pitchFamily="34" charset="-122"/>
                <a:cs typeface="Calibri" pitchFamily="34" charset="-120"/>
              </a:rPr>
              <a:t>Save result as the stego-image</a:t>
            </a:r>
            <a:endParaRPr lang="en-US" sz="1250" dirty="0"/>
          </a:p>
        </p:txBody>
      </p:sp>
      <p:sp>
        <p:nvSpPr>
          <p:cNvPr id="23" name="Shape 21"/>
          <p:cNvSpPr/>
          <p:nvPr/>
        </p:nvSpPr>
        <p:spPr>
          <a:xfrm>
            <a:off x="6263640" y="1371600"/>
            <a:ext cx="5349240" cy="4846320"/>
          </a:xfrm>
          <a:prstGeom prst="roundRect">
            <a:avLst>
              <a:gd name="adj" fmla="val 1887"/>
            </a:avLst>
          </a:prstGeom>
          <a:solidFill>
            <a:srgbClr val="1E2761"/>
          </a:solidFill>
          <a:ln/>
        </p:spPr>
      </p:sp>
      <p:sp>
        <p:nvSpPr>
          <p:cNvPr id="24" name="Shape 22"/>
          <p:cNvSpPr/>
          <p:nvPr/>
        </p:nvSpPr>
        <p:spPr>
          <a:xfrm>
            <a:off x="6583680" y="1645920"/>
            <a:ext cx="502920" cy="502920"/>
          </a:xfrm>
          <a:prstGeom prst="ellipse">
            <a:avLst/>
          </a:prstGeom>
          <a:solidFill>
            <a:srgbClr val="00C2A8"/>
          </a:solidFill>
          <a:ln/>
        </p:spPr>
      </p:sp>
      <p:sp>
        <p:nvSpPr>
          <p:cNvPr id="25" name="Text 23"/>
          <p:cNvSpPr/>
          <p:nvPr/>
        </p:nvSpPr>
        <p:spPr>
          <a:xfrm>
            <a:off x="6583680" y="1645920"/>
            <a:ext cx="502920" cy="502920"/>
          </a:xfrm>
          <a:prstGeom prst="rect">
            <a:avLst/>
          </a:prstGeom>
          <a:noFill/>
          <a:ln/>
        </p:spPr>
        <p:txBody>
          <a:bodyPr wrap="square" lIns="0" tIns="0" rIns="0" bIns="0" rtlCol="0" anchor="ctr"/>
          <a:lstStyle/>
          <a:p>
            <a:pPr algn="ctr" indent="0" marL="0">
              <a:buNone/>
            </a:pPr>
            <a:r>
              <a:rPr lang="en-US" sz="1800" b="1" dirty="0">
                <a:solidFill>
                  <a:srgbClr val="1E2761"/>
                </a:solidFill>
                <a:latin typeface="Cambria" pitchFamily="34" charset="0"/>
                <a:ea typeface="Cambria" pitchFamily="34" charset="-122"/>
                <a:cs typeface="Cambria" pitchFamily="34" charset="-120"/>
              </a:rPr>
              <a:t>D</a:t>
            </a:r>
            <a:endParaRPr lang="en-US" sz="1800" dirty="0"/>
          </a:p>
        </p:txBody>
      </p:sp>
      <p:sp>
        <p:nvSpPr>
          <p:cNvPr id="26" name="Text 24"/>
          <p:cNvSpPr/>
          <p:nvPr/>
        </p:nvSpPr>
        <p:spPr>
          <a:xfrm>
            <a:off x="7223760" y="1664208"/>
            <a:ext cx="3657600" cy="45720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Decoder</a:t>
            </a:r>
            <a:endParaRPr lang="en-US" sz="1800" dirty="0"/>
          </a:p>
        </p:txBody>
      </p:sp>
      <p:sp>
        <p:nvSpPr>
          <p:cNvPr id="27" name="Shape 25"/>
          <p:cNvSpPr/>
          <p:nvPr/>
        </p:nvSpPr>
        <p:spPr>
          <a:xfrm>
            <a:off x="6583680" y="2377440"/>
            <a:ext cx="292608" cy="292608"/>
          </a:xfrm>
          <a:prstGeom prst="ellipse">
            <a:avLst/>
          </a:prstGeom>
          <a:solidFill>
            <a:srgbClr val="FFFFFF">
              <a:alpha val="10000"/>
            </a:srgbClr>
          </a:solidFill>
          <a:ln w="12700">
            <a:solidFill>
              <a:srgbClr val="00C2A8"/>
            </a:solidFill>
            <a:prstDash val="solid"/>
          </a:ln>
        </p:spPr>
      </p:sp>
      <p:sp>
        <p:nvSpPr>
          <p:cNvPr id="28" name="Text 26"/>
          <p:cNvSpPr/>
          <p:nvPr/>
        </p:nvSpPr>
        <p:spPr>
          <a:xfrm>
            <a:off x="6583680" y="2377440"/>
            <a:ext cx="292608" cy="292608"/>
          </a:xfrm>
          <a:prstGeom prst="rect">
            <a:avLst/>
          </a:prstGeom>
          <a:noFill/>
          <a:ln/>
        </p:spPr>
        <p:txBody>
          <a:bodyPr wrap="square" lIns="0" tIns="0" rIns="0" bIns="0" rtlCol="0" anchor="ctr"/>
          <a:lstStyle/>
          <a:p>
            <a:pPr algn="ctr" indent="0" marL="0">
              <a:buNone/>
            </a:pPr>
            <a:r>
              <a:rPr lang="en-US" sz="1100" b="1" dirty="0">
                <a:solidFill>
                  <a:srgbClr val="00C2A8"/>
                </a:solidFill>
                <a:latin typeface="Calibri" pitchFamily="34" charset="0"/>
                <a:ea typeface="Calibri" pitchFamily="34" charset="-122"/>
                <a:cs typeface="Calibri" pitchFamily="34" charset="-120"/>
              </a:rPr>
              <a:t>1</a:t>
            </a:r>
            <a:endParaRPr lang="en-US" sz="1100" dirty="0"/>
          </a:p>
        </p:txBody>
      </p:sp>
      <p:sp>
        <p:nvSpPr>
          <p:cNvPr id="29" name="Text 27"/>
          <p:cNvSpPr/>
          <p:nvPr/>
        </p:nvSpPr>
        <p:spPr>
          <a:xfrm>
            <a:off x="7040880" y="2322576"/>
            <a:ext cx="4251960" cy="50292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Read the stego-image pixel data</a:t>
            </a:r>
            <a:endParaRPr lang="en-US" sz="1250" dirty="0"/>
          </a:p>
        </p:txBody>
      </p:sp>
      <p:sp>
        <p:nvSpPr>
          <p:cNvPr id="30" name="Shape 28"/>
          <p:cNvSpPr/>
          <p:nvPr/>
        </p:nvSpPr>
        <p:spPr>
          <a:xfrm>
            <a:off x="6583680" y="3090672"/>
            <a:ext cx="292608" cy="292608"/>
          </a:xfrm>
          <a:prstGeom prst="ellipse">
            <a:avLst/>
          </a:prstGeom>
          <a:solidFill>
            <a:srgbClr val="FFFFFF">
              <a:alpha val="10000"/>
            </a:srgbClr>
          </a:solidFill>
          <a:ln w="12700">
            <a:solidFill>
              <a:srgbClr val="00C2A8"/>
            </a:solidFill>
            <a:prstDash val="solid"/>
          </a:ln>
        </p:spPr>
      </p:sp>
      <p:sp>
        <p:nvSpPr>
          <p:cNvPr id="31" name="Text 29"/>
          <p:cNvSpPr/>
          <p:nvPr/>
        </p:nvSpPr>
        <p:spPr>
          <a:xfrm>
            <a:off x="6583680" y="3090672"/>
            <a:ext cx="292608" cy="292608"/>
          </a:xfrm>
          <a:prstGeom prst="rect">
            <a:avLst/>
          </a:prstGeom>
          <a:noFill/>
          <a:ln/>
        </p:spPr>
        <p:txBody>
          <a:bodyPr wrap="square" lIns="0" tIns="0" rIns="0" bIns="0" rtlCol="0" anchor="ctr"/>
          <a:lstStyle/>
          <a:p>
            <a:pPr algn="ctr" indent="0" marL="0">
              <a:buNone/>
            </a:pPr>
            <a:r>
              <a:rPr lang="en-US" sz="1100" b="1" dirty="0">
                <a:solidFill>
                  <a:srgbClr val="00C2A8"/>
                </a:solidFill>
                <a:latin typeface="Calibri" pitchFamily="34" charset="0"/>
                <a:ea typeface="Calibri" pitchFamily="34" charset="-122"/>
                <a:cs typeface="Calibri" pitchFamily="34" charset="-120"/>
              </a:rPr>
              <a:t>2</a:t>
            </a:r>
            <a:endParaRPr lang="en-US" sz="1100" dirty="0"/>
          </a:p>
        </p:txBody>
      </p:sp>
      <p:sp>
        <p:nvSpPr>
          <p:cNvPr id="32" name="Text 30"/>
          <p:cNvSpPr/>
          <p:nvPr/>
        </p:nvSpPr>
        <p:spPr>
          <a:xfrm>
            <a:off x="7040880" y="3035808"/>
            <a:ext cx="4251960" cy="50292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Extract the LSB of each pixel byte</a:t>
            </a:r>
            <a:endParaRPr lang="en-US" sz="1250" dirty="0"/>
          </a:p>
        </p:txBody>
      </p:sp>
      <p:sp>
        <p:nvSpPr>
          <p:cNvPr id="33" name="Shape 31"/>
          <p:cNvSpPr/>
          <p:nvPr/>
        </p:nvSpPr>
        <p:spPr>
          <a:xfrm>
            <a:off x="6583680" y="3803904"/>
            <a:ext cx="292608" cy="292608"/>
          </a:xfrm>
          <a:prstGeom prst="ellipse">
            <a:avLst/>
          </a:prstGeom>
          <a:solidFill>
            <a:srgbClr val="FFFFFF">
              <a:alpha val="10000"/>
            </a:srgbClr>
          </a:solidFill>
          <a:ln w="12700">
            <a:solidFill>
              <a:srgbClr val="00C2A8"/>
            </a:solidFill>
            <a:prstDash val="solid"/>
          </a:ln>
        </p:spPr>
      </p:sp>
      <p:sp>
        <p:nvSpPr>
          <p:cNvPr id="34" name="Text 32"/>
          <p:cNvSpPr/>
          <p:nvPr/>
        </p:nvSpPr>
        <p:spPr>
          <a:xfrm>
            <a:off x="6583680" y="3803904"/>
            <a:ext cx="292608" cy="292608"/>
          </a:xfrm>
          <a:prstGeom prst="rect">
            <a:avLst/>
          </a:prstGeom>
          <a:noFill/>
          <a:ln/>
        </p:spPr>
        <p:txBody>
          <a:bodyPr wrap="square" lIns="0" tIns="0" rIns="0" bIns="0" rtlCol="0" anchor="ctr"/>
          <a:lstStyle/>
          <a:p>
            <a:pPr algn="ctr" indent="0" marL="0">
              <a:buNone/>
            </a:pPr>
            <a:r>
              <a:rPr lang="en-US" sz="1100" b="1" dirty="0">
                <a:solidFill>
                  <a:srgbClr val="00C2A8"/>
                </a:solidFill>
                <a:latin typeface="Calibri" pitchFamily="34" charset="0"/>
                <a:ea typeface="Calibri" pitchFamily="34" charset="-122"/>
                <a:cs typeface="Calibri" pitchFamily="34" charset="-120"/>
              </a:rPr>
              <a:t>3</a:t>
            </a:r>
            <a:endParaRPr lang="en-US" sz="1100" dirty="0"/>
          </a:p>
        </p:txBody>
      </p:sp>
      <p:sp>
        <p:nvSpPr>
          <p:cNvPr id="35" name="Text 33"/>
          <p:cNvSpPr/>
          <p:nvPr/>
        </p:nvSpPr>
        <p:spPr>
          <a:xfrm>
            <a:off x="7040880" y="3749040"/>
            <a:ext cx="4251960" cy="50292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Reassemble bits into binary stream</a:t>
            </a:r>
            <a:endParaRPr lang="en-US" sz="1250" dirty="0"/>
          </a:p>
        </p:txBody>
      </p:sp>
      <p:sp>
        <p:nvSpPr>
          <p:cNvPr id="36" name="Shape 34"/>
          <p:cNvSpPr/>
          <p:nvPr/>
        </p:nvSpPr>
        <p:spPr>
          <a:xfrm>
            <a:off x="6583680" y="4517136"/>
            <a:ext cx="292608" cy="292608"/>
          </a:xfrm>
          <a:prstGeom prst="ellipse">
            <a:avLst/>
          </a:prstGeom>
          <a:solidFill>
            <a:srgbClr val="FFFFFF">
              <a:alpha val="10000"/>
            </a:srgbClr>
          </a:solidFill>
          <a:ln w="12700">
            <a:solidFill>
              <a:srgbClr val="00C2A8"/>
            </a:solidFill>
            <a:prstDash val="solid"/>
          </a:ln>
        </p:spPr>
      </p:sp>
      <p:sp>
        <p:nvSpPr>
          <p:cNvPr id="37" name="Text 35"/>
          <p:cNvSpPr/>
          <p:nvPr/>
        </p:nvSpPr>
        <p:spPr>
          <a:xfrm>
            <a:off x="6583680" y="4517136"/>
            <a:ext cx="292608" cy="292608"/>
          </a:xfrm>
          <a:prstGeom prst="rect">
            <a:avLst/>
          </a:prstGeom>
          <a:noFill/>
          <a:ln/>
        </p:spPr>
        <p:txBody>
          <a:bodyPr wrap="square" lIns="0" tIns="0" rIns="0" bIns="0" rtlCol="0" anchor="ctr"/>
          <a:lstStyle/>
          <a:p>
            <a:pPr algn="ctr" indent="0" marL="0">
              <a:buNone/>
            </a:pPr>
            <a:r>
              <a:rPr lang="en-US" sz="1100" b="1" dirty="0">
                <a:solidFill>
                  <a:srgbClr val="00C2A8"/>
                </a:solidFill>
                <a:latin typeface="Calibri" pitchFamily="34" charset="0"/>
                <a:ea typeface="Calibri" pitchFamily="34" charset="-122"/>
                <a:cs typeface="Calibri" pitchFamily="34" charset="-120"/>
              </a:rPr>
              <a:t>4</a:t>
            </a:r>
            <a:endParaRPr lang="en-US" sz="1100" dirty="0"/>
          </a:p>
        </p:txBody>
      </p:sp>
      <p:sp>
        <p:nvSpPr>
          <p:cNvPr id="38" name="Text 36"/>
          <p:cNvSpPr/>
          <p:nvPr/>
        </p:nvSpPr>
        <p:spPr>
          <a:xfrm>
            <a:off x="7040880" y="4462272"/>
            <a:ext cx="4251960" cy="50292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Detect the delimiter to stop reading</a:t>
            </a:r>
            <a:endParaRPr lang="en-US" sz="1250" dirty="0"/>
          </a:p>
        </p:txBody>
      </p:sp>
      <p:sp>
        <p:nvSpPr>
          <p:cNvPr id="39" name="Shape 37"/>
          <p:cNvSpPr/>
          <p:nvPr/>
        </p:nvSpPr>
        <p:spPr>
          <a:xfrm>
            <a:off x="6583680" y="5230368"/>
            <a:ext cx="292608" cy="292608"/>
          </a:xfrm>
          <a:prstGeom prst="ellipse">
            <a:avLst/>
          </a:prstGeom>
          <a:solidFill>
            <a:srgbClr val="FFFFFF">
              <a:alpha val="10000"/>
            </a:srgbClr>
          </a:solidFill>
          <a:ln w="12700">
            <a:solidFill>
              <a:srgbClr val="00C2A8"/>
            </a:solidFill>
            <a:prstDash val="solid"/>
          </a:ln>
        </p:spPr>
      </p:sp>
      <p:sp>
        <p:nvSpPr>
          <p:cNvPr id="40" name="Text 38"/>
          <p:cNvSpPr/>
          <p:nvPr/>
        </p:nvSpPr>
        <p:spPr>
          <a:xfrm>
            <a:off x="6583680" y="5230368"/>
            <a:ext cx="292608" cy="292608"/>
          </a:xfrm>
          <a:prstGeom prst="rect">
            <a:avLst/>
          </a:prstGeom>
          <a:noFill/>
          <a:ln/>
        </p:spPr>
        <p:txBody>
          <a:bodyPr wrap="square" lIns="0" tIns="0" rIns="0" bIns="0" rtlCol="0" anchor="ctr"/>
          <a:lstStyle/>
          <a:p>
            <a:pPr algn="ctr" indent="0" marL="0">
              <a:buNone/>
            </a:pPr>
            <a:r>
              <a:rPr lang="en-US" sz="1100" b="1" dirty="0">
                <a:solidFill>
                  <a:srgbClr val="00C2A8"/>
                </a:solidFill>
                <a:latin typeface="Calibri" pitchFamily="34" charset="0"/>
                <a:ea typeface="Calibri" pitchFamily="34" charset="-122"/>
                <a:cs typeface="Calibri" pitchFamily="34" charset="-120"/>
              </a:rPr>
              <a:t>5</a:t>
            </a:r>
            <a:endParaRPr lang="en-US" sz="1100" dirty="0"/>
          </a:p>
        </p:txBody>
      </p:sp>
      <p:sp>
        <p:nvSpPr>
          <p:cNvPr id="41" name="Text 39"/>
          <p:cNvSpPr/>
          <p:nvPr/>
        </p:nvSpPr>
        <p:spPr>
          <a:xfrm>
            <a:off x="7040880" y="5175504"/>
            <a:ext cx="4251960" cy="50292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Convert binary back to original text</a:t>
            </a:r>
            <a:endParaRPr lang="en-US" sz="1250" dirty="0"/>
          </a:p>
        </p:txBody>
      </p:sp>
      <p:sp>
        <p:nvSpPr>
          <p:cNvPr id="42" name="Text 40"/>
          <p:cNvSpPr/>
          <p:nvPr/>
        </p:nvSpPr>
        <p:spPr>
          <a:xfrm>
            <a:off x="11475720" y="6473952"/>
            <a:ext cx="4572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731520" y="640080"/>
            <a:ext cx="7315200" cy="54864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Conclusion</a:t>
            </a:r>
            <a:endParaRPr lang="en-US" sz="3200" dirty="0"/>
          </a:p>
        </p:txBody>
      </p:sp>
      <p:sp>
        <p:nvSpPr>
          <p:cNvPr id="3" name="Shape 1"/>
          <p:cNvSpPr/>
          <p:nvPr/>
        </p:nvSpPr>
        <p:spPr>
          <a:xfrm>
            <a:off x="749808" y="1188720"/>
            <a:ext cx="457200" cy="73152"/>
          </a:xfrm>
          <a:prstGeom prst="roundRect">
            <a:avLst>
              <a:gd name="adj" fmla="val 50000"/>
            </a:avLst>
          </a:prstGeom>
          <a:solidFill>
            <a:srgbClr val="00C2A8"/>
          </a:solidFill>
          <a:ln/>
        </p:spPr>
      </p:sp>
      <p:sp>
        <p:nvSpPr>
          <p:cNvPr id="4" name="Shape 2"/>
          <p:cNvSpPr/>
          <p:nvPr/>
        </p:nvSpPr>
        <p:spPr>
          <a:xfrm>
            <a:off x="731520" y="1600200"/>
            <a:ext cx="73152" cy="640080"/>
          </a:xfrm>
          <a:prstGeom prst="roundRect">
            <a:avLst>
              <a:gd name="adj" fmla="val 37500"/>
            </a:avLst>
          </a:prstGeom>
          <a:solidFill>
            <a:srgbClr val="00C2A8"/>
          </a:solidFill>
          <a:ln/>
        </p:spPr>
      </p:sp>
      <p:sp>
        <p:nvSpPr>
          <p:cNvPr id="5" name="Text 3"/>
          <p:cNvSpPr/>
          <p:nvPr/>
        </p:nvSpPr>
        <p:spPr>
          <a:xfrm>
            <a:off x="1051560" y="1554480"/>
            <a:ext cx="9966960" cy="777240"/>
          </a:xfrm>
          <a:prstGeom prst="rect">
            <a:avLst/>
          </a:prstGeom>
          <a:noFill/>
          <a:ln/>
        </p:spPr>
        <p:txBody>
          <a:bodyPr wrap="square" lIns="0" tIns="0" rIns="0" bIns="0" rtlCol="0" anchor="ctr"/>
          <a:lstStyle/>
          <a:p>
            <a:pPr indent="0" marL="0">
              <a:lnSpc>
                <a:spcPct val="115000"/>
              </a:lnSpc>
              <a:buNone/>
            </a:pPr>
            <a:r>
              <a:rPr lang="en-US" sz="1550" dirty="0">
                <a:solidFill>
                  <a:srgbClr val="CADCFC"/>
                </a:solidFill>
                <a:latin typeface="Calibri" pitchFamily="34" charset="0"/>
                <a:ea typeface="Calibri" pitchFamily="34" charset="-122"/>
                <a:cs typeface="Calibri" pitchFamily="34" charset="-120"/>
              </a:rPr>
              <a:t>The stego-image produced is visually indistinguishable from the original cover image.</a:t>
            </a:r>
            <a:endParaRPr lang="en-US" sz="1550" dirty="0"/>
          </a:p>
        </p:txBody>
      </p:sp>
      <p:sp>
        <p:nvSpPr>
          <p:cNvPr id="6" name="Shape 4"/>
          <p:cNvSpPr/>
          <p:nvPr/>
        </p:nvSpPr>
        <p:spPr>
          <a:xfrm>
            <a:off x="731520" y="2468880"/>
            <a:ext cx="73152" cy="640080"/>
          </a:xfrm>
          <a:prstGeom prst="roundRect">
            <a:avLst>
              <a:gd name="adj" fmla="val 37500"/>
            </a:avLst>
          </a:prstGeom>
          <a:solidFill>
            <a:srgbClr val="00C2A8"/>
          </a:solidFill>
          <a:ln/>
        </p:spPr>
      </p:sp>
      <p:sp>
        <p:nvSpPr>
          <p:cNvPr id="7" name="Text 5"/>
          <p:cNvSpPr/>
          <p:nvPr/>
        </p:nvSpPr>
        <p:spPr>
          <a:xfrm>
            <a:off x="1051560" y="2423160"/>
            <a:ext cx="9966960" cy="777240"/>
          </a:xfrm>
          <a:prstGeom prst="rect">
            <a:avLst/>
          </a:prstGeom>
          <a:noFill/>
          <a:ln/>
        </p:spPr>
        <p:txBody>
          <a:bodyPr wrap="square" lIns="0" tIns="0" rIns="0" bIns="0" rtlCol="0" anchor="ctr"/>
          <a:lstStyle/>
          <a:p>
            <a:pPr indent="0" marL="0">
              <a:lnSpc>
                <a:spcPct val="115000"/>
              </a:lnSpc>
              <a:buNone/>
            </a:pPr>
            <a:r>
              <a:rPr lang="en-US" sz="1550" dirty="0">
                <a:solidFill>
                  <a:srgbClr val="CADCFC"/>
                </a:solidFill>
                <a:latin typeface="Calibri" pitchFamily="34" charset="0"/>
                <a:ea typeface="Calibri" pitchFamily="34" charset="-122"/>
                <a:cs typeface="Calibri" pitchFamily="34" charset="-120"/>
              </a:rPr>
              <a:t>LSB substitution offers an effective, low-complexity approach for hiding text data.</a:t>
            </a:r>
            <a:endParaRPr lang="en-US" sz="1550" dirty="0"/>
          </a:p>
        </p:txBody>
      </p:sp>
      <p:sp>
        <p:nvSpPr>
          <p:cNvPr id="8" name="Shape 6"/>
          <p:cNvSpPr/>
          <p:nvPr/>
        </p:nvSpPr>
        <p:spPr>
          <a:xfrm>
            <a:off x="731520" y="3337560"/>
            <a:ext cx="73152" cy="640080"/>
          </a:xfrm>
          <a:prstGeom prst="roundRect">
            <a:avLst>
              <a:gd name="adj" fmla="val 37500"/>
            </a:avLst>
          </a:prstGeom>
          <a:solidFill>
            <a:srgbClr val="00C2A8"/>
          </a:solidFill>
          <a:ln/>
        </p:spPr>
      </p:sp>
      <p:sp>
        <p:nvSpPr>
          <p:cNvPr id="9" name="Text 7"/>
          <p:cNvSpPr/>
          <p:nvPr/>
        </p:nvSpPr>
        <p:spPr>
          <a:xfrm>
            <a:off x="1051560" y="3291840"/>
            <a:ext cx="9966960" cy="777240"/>
          </a:xfrm>
          <a:prstGeom prst="rect">
            <a:avLst/>
          </a:prstGeom>
          <a:noFill/>
          <a:ln/>
        </p:spPr>
        <p:txBody>
          <a:bodyPr wrap="square" lIns="0" tIns="0" rIns="0" bIns="0" rtlCol="0" anchor="ctr"/>
          <a:lstStyle/>
          <a:p>
            <a:pPr indent="0" marL="0">
              <a:lnSpc>
                <a:spcPct val="115000"/>
              </a:lnSpc>
              <a:buNone/>
            </a:pPr>
            <a:r>
              <a:rPr lang="en-US" sz="1550" dirty="0">
                <a:solidFill>
                  <a:srgbClr val="CADCFC"/>
                </a:solidFill>
                <a:latin typeface="Calibri" pitchFamily="34" charset="0"/>
                <a:ea typeface="Calibri" pitchFamily="34" charset="-122"/>
                <a:cs typeface="Calibri" pitchFamily="34" charset="-120"/>
              </a:rPr>
              <a:t>A delimiter-based boundary ensures accurate and reliable message extraction.</a:t>
            </a:r>
            <a:endParaRPr lang="en-US" sz="1550" dirty="0"/>
          </a:p>
        </p:txBody>
      </p:sp>
      <p:sp>
        <p:nvSpPr>
          <p:cNvPr id="10" name="Shape 8"/>
          <p:cNvSpPr/>
          <p:nvPr/>
        </p:nvSpPr>
        <p:spPr>
          <a:xfrm>
            <a:off x="731520" y="4206240"/>
            <a:ext cx="73152" cy="640080"/>
          </a:xfrm>
          <a:prstGeom prst="roundRect">
            <a:avLst>
              <a:gd name="adj" fmla="val 37500"/>
            </a:avLst>
          </a:prstGeom>
          <a:solidFill>
            <a:srgbClr val="00C2A8"/>
          </a:solidFill>
          <a:ln/>
        </p:spPr>
      </p:sp>
      <p:sp>
        <p:nvSpPr>
          <p:cNvPr id="11" name="Text 9"/>
          <p:cNvSpPr/>
          <p:nvPr/>
        </p:nvSpPr>
        <p:spPr>
          <a:xfrm>
            <a:off x="1051560" y="4160520"/>
            <a:ext cx="9966960" cy="777240"/>
          </a:xfrm>
          <a:prstGeom prst="rect">
            <a:avLst/>
          </a:prstGeom>
          <a:noFill/>
          <a:ln/>
        </p:spPr>
        <p:txBody>
          <a:bodyPr wrap="square" lIns="0" tIns="0" rIns="0" bIns="0" rtlCol="0" anchor="ctr"/>
          <a:lstStyle/>
          <a:p>
            <a:pPr indent="0" marL="0">
              <a:lnSpc>
                <a:spcPct val="115000"/>
              </a:lnSpc>
              <a:buNone/>
            </a:pPr>
            <a:r>
              <a:rPr lang="en-US" sz="1550" dirty="0">
                <a:solidFill>
                  <a:srgbClr val="CADCFC"/>
                </a:solidFill>
                <a:latin typeface="Calibri" pitchFamily="34" charset="0"/>
                <a:ea typeface="Calibri" pitchFamily="34" charset="-122"/>
                <a:cs typeface="Calibri" pitchFamily="34" charset="-120"/>
              </a:rPr>
              <a:t>Demonstrates a practical, real-world application of steganography in secure multimedia communication.</a:t>
            </a:r>
            <a:endParaRPr lang="en-US" sz="1550" dirty="0"/>
          </a:p>
        </p:txBody>
      </p:sp>
      <p:sp>
        <p:nvSpPr>
          <p:cNvPr id="12" name="Shape 10"/>
          <p:cNvSpPr/>
          <p:nvPr/>
        </p:nvSpPr>
        <p:spPr>
          <a:xfrm>
            <a:off x="731520" y="5349240"/>
            <a:ext cx="10424160" cy="0"/>
          </a:xfrm>
          <a:prstGeom prst="line">
            <a:avLst/>
          </a:prstGeom>
          <a:noFill/>
          <a:ln w="12700">
            <a:solidFill>
              <a:srgbClr val="FFFFFF">
                <a:alpha val="20000"/>
              </a:srgbClr>
            </a:solidFill>
            <a:prstDash val="solid"/>
          </a:ln>
        </p:spPr>
      </p:sp>
      <p:sp>
        <p:nvSpPr>
          <p:cNvPr id="13" name="Text 11"/>
          <p:cNvSpPr/>
          <p:nvPr/>
        </p:nvSpPr>
        <p:spPr>
          <a:xfrm>
            <a:off x="731520" y="5532120"/>
            <a:ext cx="5486400" cy="548640"/>
          </a:xfrm>
          <a:prstGeom prst="rect">
            <a:avLst/>
          </a:prstGeom>
          <a:noFill/>
          <a:ln/>
        </p:spPr>
        <p:txBody>
          <a:bodyPr wrap="square" rtlCol="0" anchor="ctr"/>
          <a:lstStyle/>
          <a:p>
            <a:pPr indent="0" marL="0">
              <a:buNone/>
            </a:pPr>
            <a:r>
              <a:rPr lang="en-US" sz="2000" b="1" dirty="0">
                <a:solidFill>
                  <a:srgbClr val="00C2A8"/>
                </a:solidFill>
                <a:latin typeface="Cambria" pitchFamily="34" charset="0"/>
                <a:ea typeface="Cambria" pitchFamily="34" charset="-122"/>
                <a:cs typeface="Cambria" pitchFamily="34" charset="-120"/>
              </a:rPr>
              <a:t>Thank You</a:t>
            </a:r>
            <a:endParaRPr lang="en-US" sz="2000" dirty="0"/>
          </a:p>
        </p:txBody>
      </p:sp>
      <p:sp>
        <p:nvSpPr>
          <p:cNvPr id="14" name="Text 12"/>
          <p:cNvSpPr/>
          <p:nvPr/>
        </p:nvSpPr>
        <p:spPr>
          <a:xfrm>
            <a:off x="731520" y="6035040"/>
            <a:ext cx="9144000" cy="365760"/>
          </a:xfrm>
          <a:prstGeom prst="rect">
            <a:avLst/>
          </a:prstGeom>
          <a:noFill/>
          <a:ln/>
        </p:spPr>
        <p:txBody>
          <a:bodyPr wrap="square" rtlCol="0" anchor="ctr"/>
          <a:lstStyle/>
          <a:p>
            <a:pPr indent="0" marL="0">
              <a:buNone/>
            </a:pPr>
            <a:r>
              <a:rPr lang="en-US" sz="1300" dirty="0">
                <a:solidFill>
                  <a:srgbClr val="CADCFC"/>
                </a:solidFill>
                <a:latin typeface="Calibri" pitchFamily="34" charset="0"/>
                <a:ea typeface="Calibri" pitchFamily="34" charset="-122"/>
                <a:cs typeface="Calibri" pitchFamily="34" charset="-120"/>
              </a:rPr>
              <a:t>Swayam Agarwal (23BIT0216)   •   Shriyans Pratihari (23BIT0219)</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2026-09-10T16:22:38Z</dcterms:created>
  <dcterms:modified xsi:type="dcterms:W3CDTF">2026-09-10T16:22:38Z</dcterms:modified>
</cp:coreProperties>
</file>